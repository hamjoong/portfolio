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435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65" r:id="rId13"/>
    <p:sldId id="266" r:id="rId14"/>
    <p:sldId id="273" r:id="rId15"/>
    <p:sldId id="267" r:id="rId16"/>
    <p:sldId id="268" r:id="rId17"/>
    <p:sldId id="274" r:id="rId18"/>
    <p:sldId id="275" r:id="rId19"/>
    <p:sldId id="27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9" themeSkinType="9" themeTransitionType="4112" useThemeTransition="1" byMouseClick="1" attrType="21" dur="2000" useSnd="1" useSndIndex="1" sndIndex="21" r:sndid="rId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101" d="100"/>
          <a:sy n="101" d="100"/>
        </p:scale>
        <p:origin x="1122" y="102"/>
      </p:cViewPr>
      <p:guideLst>
        <p:guide orient="horz" pos="214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Props.xml.rels><?xml version="1.0" encoding="UTF-8" standalone="yes"?>
<Relationships xmlns="http://schemas.openxmlformats.org/package/2006/relationships"><Relationship Id="rId1" Type="http://schemas.openxmlformats.org/officeDocument/2006/relationships/externalLinkPath" Target="NULL" TargetMode="External"/></Relationships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: 도형 7"/>
          <p:cNvSpPr/>
          <p:nvPr/>
        </p:nvSpPr>
        <p:spPr>
          <a:xfrm>
            <a:off x="-12699" y="3631"/>
            <a:ext cx="1247479" cy="442587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08"/>
              </a:cxn>
              <a:cxn ang="0">
                <a:pos x="986" y="7114"/>
              </a:cxn>
              <a:cxn ang="0">
                <a:pos x="1537" y="7266"/>
              </a:cxn>
              <a:cxn ang="0">
                <a:pos x="62" y="0"/>
              </a:cxn>
              <a:cxn ang="0">
                <a:pos x="0" y="0"/>
              </a:cxn>
            </a:cxnLst>
            <a:rect l="0" t="0" r="r" b="b"/>
            <a:pathLst>
              <a:path w="1537" h="7266">
                <a:moveTo>
                  <a:pt x="0" y="0"/>
                </a:moveTo>
                <a:lnTo>
                  <a:pt x="0" y="708"/>
                </a:lnTo>
                <a:lnTo>
                  <a:pt x="986" y="7114"/>
                </a:lnTo>
                <a:lnTo>
                  <a:pt x="1537" y="7266"/>
                </a:lnTo>
                <a:lnTo>
                  <a:pt x="62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9" name="자유형: 도형 8"/>
          <p:cNvSpPr/>
          <p:nvPr/>
        </p:nvSpPr>
        <p:spPr>
          <a:xfrm flipH="1">
            <a:off x="7307082" y="211889"/>
            <a:ext cx="4883131" cy="1609272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0" name="자유형: 도형 9"/>
          <p:cNvSpPr/>
          <p:nvPr/>
        </p:nvSpPr>
        <p:spPr>
          <a:xfrm flipH="1">
            <a:off x="1176" y="0"/>
            <a:ext cx="12196229" cy="1209811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1" name="자유형: 도형 10"/>
          <p:cNvSpPr/>
          <p:nvPr/>
        </p:nvSpPr>
        <p:spPr>
          <a:xfrm>
            <a:off x="0" y="313097"/>
            <a:ext cx="7315199" cy="2039450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  <a:gd name="connsiteX0" fmla="*/ 5486400 w 5486400"/>
              <a:gd name="connsiteY0" fmla="*/ 1085850 h 2676075"/>
              <a:gd name="connsiteX1" fmla="*/ 0 w 5486400"/>
              <a:gd name="connsiteY1" fmla="*/ 0 h 2676075"/>
              <a:gd name="connsiteX2" fmla="*/ 0 w 5486400"/>
              <a:gd name="connsiteY2" fmla="*/ 95250 h 2676075"/>
              <a:gd name="connsiteX3" fmla="*/ 604863 w 5486400"/>
              <a:gd name="connsiteY3" fmla="*/ 2676075 h 2676075"/>
              <a:gd name="connsiteX4" fmla="*/ 5486400 w 5486400"/>
              <a:gd name="connsiteY4" fmla="*/ 1085850 h 2676075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0 w 5486400"/>
              <a:gd name="connsiteY2" fmla="*/ 95250 h 2582198"/>
              <a:gd name="connsiteX3" fmla="*/ 892927 w 5486400"/>
              <a:gd name="connsiteY3" fmla="*/ 2582198 h 2582198"/>
              <a:gd name="connsiteX4" fmla="*/ 5486400 w 5486400"/>
              <a:gd name="connsiteY4" fmla="*/ 1085850 h 2582198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892927 w 5486400"/>
              <a:gd name="connsiteY2" fmla="*/ 2582198 h 2582198"/>
              <a:gd name="connsiteX3" fmla="*/ 5486400 w 5486400"/>
              <a:gd name="connsiteY3" fmla="*/ 1085850 h 2582198"/>
              <a:gd name="connsiteX0" fmla="*/ 5486400 w 5486400"/>
              <a:gd name="connsiteY0" fmla="*/ 1085850 h 2481754"/>
              <a:gd name="connsiteX1" fmla="*/ 0 w 5486400"/>
              <a:gd name="connsiteY1" fmla="*/ 0 h 2481754"/>
              <a:gd name="connsiteX2" fmla="*/ 870728 w 5486400"/>
              <a:gd name="connsiteY2" fmla="*/ 2481754 h 2481754"/>
              <a:gd name="connsiteX3" fmla="*/ 5486400 w 5486400"/>
              <a:gd name="connsiteY3" fmla="*/ 1085850 h 2481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2481754">
                <a:moveTo>
                  <a:pt x="5486400" y="1085850"/>
                </a:moveTo>
                <a:lnTo>
                  <a:pt x="0" y="0"/>
                </a:lnTo>
                <a:lnTo>
                  <a:pt x="870728" y="2481754"/>
                </a:lnTo>
                <a:lnTo>
                  <a:pt x="5486400" y="108585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2" name="자유형: 도형 11"/>
          <p:cNvSpPr/>
          <p:nvPr/>
        </p:nvSpPr>
        <p:spPr>
          <a:xfrm rot="16200000" flipH="1">
            <a:off x="-469153" y="661849"/>
            <a:ext cx="2747768" cy="1432205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3" name="자유형: 도형 12"/>
          <p:cNvSpPr/>
          <p:nvPr/>
        </p:nvSpPr>
        <p:spPr>
          <a:xfrm rot="16200000" flipH="1">
            <a:off x="-2892959" y="2893114"/>
            <a:ext cx="6862892" cy="1076695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4" name="자유형: 도형 13"/>
          <p:cNvSpPr/>
          <p:nvPr/>
        </p:nvSpPr>
        <p:spPr>
          <a:xfrm rot="16200000">
            <a:off x="-839161" y="3864994"/>
            <a:ext cx="4116307" cy="1880869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0" h="2571750">
                <a:moveTo>
                  <a:pt x="5486400" y="1085850"/>
                </a:moveTo>
                <a:lnTo>
                  <a:pt x="0" y="0"/>
                </a:lnTo>
                <a:lnTo>
                  <a:pt x="0" y="95250"/>
                </a:lnTo>
                <a:lnTo>
                  <a:pt x="923925" y="2571750"/>
                </a:lnTo>
                <a:lnTo>
                  <a:pt x="5486400" y="1085850"/>
                </a:lnTo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5" name="자유형: 도형 14"/>
          <p:cNvSpPr/>
          <p:nvPr/>
        </p:nvSpPr>
        <p:spPr>
          <a:xfrm rot="16200000">
            <a:off x="1234747" y="5050782"/>
            <a:ext cx="895421" cy="2731035"/>
          </a:xfrm>
          <a:custGeom>
            <a:avLst/>
            <a:gdLst>
              <a:gd name="connsiteX0" fmla="*/ 0 w 571472"/>
              <a:gd name="connsiteY0" fmla="*/ 3000396 h 3000396"/>
              <a:gd name="connsiteX1" fmla="*/ 0 w 571472"/>
              <a:gd name="connsiteY1" fmla="*/ 0 h 3000396"/>
              <a:gd name="connsiteX2" fmla="*/ 571472 w 571472"/>
              <a:gd name="connsiteY2" fmla="*/ 3000396 h 3000396"/>
              <a:gd name="connsiteX3" fmla="*/ 0 w 571472"/>
              <a:gd name="connsiteY3" fmla="*/ 3000396 h 3000396"/>
              <a:gd name="connsiteX0" fmla="*/ 0 w 928630"/>
              <a:gd name="connsiteY0" fmla="*/ 3000396 h 3000396"/>
              <a:gd name="connsiteX1" fmla="*/ 0 w 928630"/>
              <a:gd name="connsiteY1" fmla="*/ 0 h 3000396"/>
              <a:gd name="connsiteX2" fmla="*/ 928630 w 928630"/>
              <a:gd name="connsiteY2" fmla="*/ 2500306 h 3000396"/>
              <a:gd name="connsiteX3" fmla="*/ 0 w 928630"/>
              <a:gd name="connsiteY3" fmla="*/ 3000396 h 3000396"/>
              <a:gd name="connsiteX0" fmla="*/ 9525 w 938155"/>
              <a:gd name="connsiteY0" fmla="*/ 3067050 h 3067050"/>
              <a:gd name="connsiteX1" fmla="*/ 0 w 938155"/>
              <a:gd name="connsiteY1" fmla="*/ 0 h 3067050"/>
              <a:gd name="connsiteX2" fmla="*/ 938155 w 938155"/>
              <a:gd name="connsiteY2" fmla="*/ 2566960 h 3067050"/>
              <a:gd name="connsiteX3" fmla="*/ 9525 w 938155"/>
              <a:gd name="connsiteY3" fmla="*/ 3067050 h 3067050"/>
              <a:gd name="connsiteX0" fmla="*/ 9525 w 928656"/>
              <a:gd name="connsiteY0" fmla="*/ 3067050 h 3067050"/>
              <a:gd name="connsiteX1" fmla="*/ 0 w 928656"/>
              <a:gd name="connsiteY1" fmla="*/ 0 h 3067050"/>
              <a:gd name="connsiteX2" fmla="*/ 928656 w 928656"/>
              <a:gd name="connsiteY2" fmla="*/ 2509813 h 3067050"/>
              <a:gd name="connsiteX3" fmla="*/ 9525 w 928656"/>
              <a:gd name="connsiteY3" fmla="*/ 3067050 h 3067050"/>
              <a:gd name="connsiteX0" fmla="*/ 9525 w 928656"/>
              <a:gd name="connsiteY0" fmla="*/ 2709836 h 2709836"/>
              <a:gd name="connsiteX1" fmla="*/ 0 w 928656"/>
              <a:gd name="connsiteY1" fmla="*/ 0 h 2709836"/>
              <a:gd name="connsiteX2" fmla="*/ 928656 w 928656"/>
              <a:gd name="connsiteY2" fmla="*/ 2509813 h 2709836"/>
              <a:gd name="connsiteX3" fmla="*/ 9525 w 928656"/>
              <a:gd name="connsiteY3" fmla="*/ 2709836 h 2709836"/>
              <a:gd name="connsiteX0" fmla="*/ 9525 w 928656"/>
              <a:gd name="connsiteY0" fmla="*/ 2781250 h 2781250"/>
              <a:gd name="connsiteX1" fmla="*/ 0 w 928656"/>
              <a:gd name="connsiteY1" fmla="*/ 0 h 2781250"/>
              <a:gd name="connsiteX2" fmla="*/ 928656 w 928656"/>
              <a:gd name="connsiteY2" fmla="*/ 2509813 h 2781250"/>
              <a:gd name="connsiteX3" fmla="*/ 9525 w 928656"/>
              <a:gd name="connsiteY3" fmla="*/ 2781250 h 2781250"/>
              <a:gd name="connsiteX0" fmla="*/ 9525 w 928656"/>
              <a:gd name="connsiteY0" fmla="*/ 2924102 h 2924102"/>
              <a:gd name="connsiteX1" fmla="*/ 0 w 928656"/>
              <a:gd name="connsiteY1" fmla="*/ 0 h 2924102"/>
              <a:gd name="connsiteX2" fmla="*/ 928656 w 928656"/>
              <a:gd name="connsiteY2" fmla="*/ 2509813 h 2924102"/>
              <a:gd name="connsiteX3" fmla="*/ 9525 w 928656"/>
              <a:gd name="connsiteY3" fmla="*/ 2924102 h 2924102"/>
              <a:gd name="connsiteX0" fmla="*/ 9525 w 931063"/>
              <a:gd name="connsiteY0" fmla="*/ 2924102 h 2924102"/>
              <a:gd name="connsiteX1" fmla="*/ 0 w 931063"/>
              <a:gd name="connsiteY1" fmla="*/ 0 h 2924102"/>
              <a:gd name="connsiteX2" fmla="*/ 931063 w 931063"/>
              <a:gd name="connsiteY2" fmla="*/ 2521723 h 2924102"/>
              <a:gd name="connsiteX3" fmla="*/ 9525 w 931063"/>
              <a:gd name="connsiteY3" fmla="*/ 2924102 h 2924102"/>
              <a:gd name="connsiteX0" fmla="*/ 0 w 931063"/>
              <a:gd name="connsiteY0" fmla="*/ 2805040 h 2805040"/>
              <a:gd name="connsiteX1" fmla="*/ 0 w 931063"/>
              <a:gd name="connsiteY1" fmla="*/ 0 h 2805040"/>
              <a:gd name="connsiteX2" fmla="*/ 931063 w 931063"/>
              <a:gd name="connsiteY2" fmla="*/ 2521723 h 2805040"/>
              <a:gd name="connsiteX3" fmla="*/ 0 w 931063"/>
              <a:gd name="connsiteY3" fmla="*/ 2805040 h 2805040"/>
              <a:gd name="connsiteX0" fmla="*/ 6350 w 931063"/>
              <a:gd name="connsiteY0" fmla="*/ 2822504 h 2822504"/>
              <a:gd name="connsiteX1" fmla="*/ 0 w 931063"/>
              <a:gd name="connsiteY1" fmla="*/ 0 h 2822504"/>
              <a:gd name="connsiteX2" fmla="*/ 931063 w 931063"/>
              <a:gd name="connsiteY2" fmla="*/ 2521723 h 2822504"/>
              <a:gd name="connsiteX3" fmla="*/ 6350 w 931063"/>
              <a:gd name="connsiteY3" fmla="*/ 2822504 h 2822504"/>
              <a:gd name="connsiteX0" fmla="*/ 6350 w 1185503"/>
              <a:gd name="connsiteY0" fmla="*/ 2822504 h 3224000"/>
              <a:gd name="connsiteX1" fmla="*/ 0 w 1185503"/>
              <a:gd name="connsiteY1" fmla="*/ 0 h 3224000"/>
              <a:gd name="connsiteX2" fmla="*/ 1185503 w 1185503"/>
              <a:gd name="connsiteY2" fmla="*/ 3224000 h 3224000"/>
              <a:gd name="connsiteX3" fmla="*/ 6350 w 1185503"/>
              <a:gd name="connsiteY3" fmla="*/ 2822504 h 3224000"/>
              <a:gd name="connsiteX0" fmla="*/ 2116 w 1193457"/>
              <a:gd name="connsiteY0" fmla="*/ 3734200 h 3734200"/>
              <a:gd name="connsiteX1" fmla="*/ 7954 w 1193457"/>
              <a:gd name="connsiteY1" fmla="*/ 0 h 3734200"/>
              <a:gd name="connsiteX2" fmla="*/ 1193457 w 1193457"/>
              <a:gd name="connsiteY2" fmla="*/ 3224000 h 3734200"/>
              <a:gd name="connsiteX3" fmla="*/ 2116 w 1193457"/>
              <a:gd name="connsiteY3" fmla="*/ 3734200 h 373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3457" h="3734200">
                <a:moveTo>
                  <a:pt x="2116" y="3734200"/>
                </a:moveTo>
                <a:cubicBezTo>
                  <a:pt x="-1" y="2793365"/>
                  <a:pt x="10071" y="940835"/>
                  <a:pt x="7954" y="0"/>
                </a:cubicBezTo>
                <a:lnTo>
                  <a:pt x="1193457" y="3224000"/>
                </a:lnTo>
                <a:lnTo>
                  <a:pt x="2116" y="3734200"/>
                </a:lnTo>
              </a:path>
            </a:pathLst>
          </a:custGeom>
          <a:solidFill>
            <a:schemeClr val="accent2">
              <a:lumMod val="50000"/>
              <a:lumOff val="5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16" name="자유형: 도형 15"/>
          <p:cNvSpPr/>
          <p:nvPr/>
        </p:nvSpPr>
        <p:spPr>
          <a:xfrm>
            <a:off x="164250" y="-27432"/>
            <a:ext cx="2883726" cy="6885432"/>
          </a:xfrm>
          <a:custGeom>
            <a:avLst/>
            <a:gdLst>
              <a:gd name="connsiteX0" fmla="*/ 0 w 500066"/>
              <a:gd name="connsiteY0" fmla="*/ 6858000 h 6858000"/>
              <a:gd name="connsiteX1" fmla="*/ 250033 w 500066"/>
              <a:gd name="connsiteY1" fmla="*/ 0 h 6858000"/>
              <a:gd name="connsiteX2" fmla="*/ 500066 w 500066"/>
              <a:gd name="connsiteY2" fmla="*/ 6858000 h 6858000"/>
              <a:gd name="connsiteX3" fmla="*/ 0 w 500066"/>
              <a:gd name="connsiteY3" fmla="*/ 6858000 h 6858000"/>
              <a:gd name="connsiteX0" fmla="*/ 1638757 w 2138823"/>
              <a:gd name="connsiteY0" fmla="*/ 6876288 h 6876288"/>
              <a:gd name="connsiteX1" fmla="*/ 0 w 2138823"/>
              <a:gd name="connsiteY1" fmla="*/ 0 h 6876288"/>
              <a:gd name="connsiteX2" fmla="*/ 2138823 w 2138823"/>
              <a:gd name="connsiteY2" fmla="*/ 6876288 h 6876288"/>
              <a:gd name="connsiteX3" fmla="*/ 1638757 w 2138823"/>
              <a:gd name="connsiteY3" fmla="*/ 6876288 h 6876288"/>
              <a:gd name="connsiteX0" fmla="*/ 1662729 w 2162795"/>
              <a:gd name="connsiteY0" fmla="*/ 6885432 h 6885432"/>
              <a:gd name="connsiteX1" fmla="*/ 0 w 2162795"/>
              <a:gd name="connsiteY1" fmla="*/ 0 h 6885432"/>
              <a:gd name="connsiteX2" fmla="*/ 2162795 w 2162795"/>
              <a:gd name="connsiteY2" fmla="*/ 6885432 h 6885432"/>
              <a:gd name="connsiteX3" fmla="*/ 1662729 w 2162795"/>
              <a:gd name="connsiteY3" fmla="*/ 6885432 h 688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795" h="6885432">
                <a:moveTo>
                  <a:pt x="1662729" y="6885432"/>
                </a:moveTo>
                <a:lnTo>
                  <a:pt x="0" y="0"/>
                </a:lnTo>
                <a:lnTo>
                  <a:pt x="2162795" y="6885432"/>
                </a:lnTo>
                <a:lnTo>
                  <a:pt x="1662729" y="6885432"/>
                </a:lnTo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70586" y="2919309"/>
            <a:ext cx="9635703" cy="957706"/>
          </a:xfrm>
        </p:spPr>
        <p:txBody>
          <a:bodyPr>
            <a:noAutofit/>
          </a:bodyPr>
          <a:lstStyle>
            <a:lvl1pPr algn="l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70586" y="3890286"/>
            <a:ext cx="9631127" cy="467408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82A27DF-FC33-4C05-96AC-ECA7B11A9C6B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EA2121F7-E20F-43B2-B3C6-C7E51EA698C5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DAC1609-63DC-4238-90D7-BDA4CCE7E5D2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8" name="자유형: 도형 7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  <a:alpha val="39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자유형: 도형 8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3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자유형: 도형 9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자유형: 도형 10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1">
                <a:alpha val="74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자유형: 도형 11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3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1962" y="2357419"/>
            <a:ext cx="10363199" cy="928705"/>
          </a:xfrm>
        </p:spPr>
        <p:txBody>
          <a:bodyPr anchor="t"/>
          <a:lstStyle>
            <a:lvl1pPr algn="l">
              <a:defRPr sz="5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61962" y="1807030"/>
            <a:ext cx="10363199" cy="550390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1794FCA-B30B-4B0B-A06E-872BCCC939B8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82B4FBC9-0152-4321-B5AE-8A4D40C68623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5271060-A817-4E00-9021-886881503EBB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214422"/>
            <a:ext cx="10972799" cy="4953841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47ABBE4F-A180-451B-976B-207E95DDA7FB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F0DB8ECF-E18C-4D8D-A7A0-FA2FABCA5290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11" name="바닥글 개체 틀 10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각 삼각형 19"/>
          <p:cNvSpPr/>
          <p:nvPr/>
        </p:nvSpPr>
        <p:spPr>
          <a:xfrm rot="5400000">
            <a:off x="-3300803" y="3300663"/>
            <a:ext cx="6887028" cy="2857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grpSp>
        <p:nvGrpSpPr>
          <p:cNvPr id="21" name="그룹 20"/>
          <p:cNvGrpSpPr/>
          <p:nvPr/>
        </p:nvGrpSpPr>
        <p:grpSpPr>
          <a:xfrm flipH="1">
            <a:off x="-2" y="0"/>
            <a:ext cx="12192001" cy="6858001"/>
            <a:chOff x="-1" y="0"/>
            <a:chExt cx="9144001" cy="6858001"/>
          </a:xfrm>
        </p:grpSpPr>
        <p:sp>
          <p:nvSpPr>
            <p:cNvPr id="22" name="자유형: 도형 21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chemeClr val="accent2">
                <a:lumMod val="50000"/>
                <a:lumOff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24" name="자유형: 도형 23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ah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5" name="자유형: 도형 24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6" name="자유형: 도형 25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chemeClr val="accent2">
                  <a:lumMod val="25000"/>
                  <a:lumOff val="75000"/>
                  <a:alpha val="32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7" name="자유형: 도형 26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ah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alpha val="75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8" name="자유형: 도형 27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5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9" name="자유형: 도형 28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  <a:alpha val="5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2463" y="4772044"/>
            <a:ext cx="8680109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 noTextEdit="1"/>
          </p:cNvSpPr>
          <p:nvPr>
            <p:ph type="pic" idx="1"/>
          </p:nvPr>
        </p:nvSpPr>
        <p:spPr>
          <a:xfrm>
            <a:off x="952463" y="584219"/>
            <a:ext cx="868010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952463" y="5338782"/>
            <a:ext cx="8680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18" name="날짜 개체 틀 17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8C9FE912-2C94-4152-970B-97CA7CEA7709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7" name="자유형: 도형 6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40000"/>
                <a:lumOff val="60000"/>
                <a:alpha val="58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8" name="자유형: 도형 7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1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자유형: 도형 8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rgbClr val="B6B8BA">
                <a:alpha val="38000"/>
              </a:srgb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자유형: 도형 9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2">
                <a:lumMod val="50000"/>
                <a:lumOff val="50000"/>
                <a:alpha val="6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자유형: 도형 10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30199" y="2673355"/>
            <a:ext cx="11531599" cy="1470025"/>
          </a:xfrm>
        </p:spPr>
        <p:txBody>
          <a:bodyPr/>
          <a:lstStyle>
            <a:lvl1pPr algn="ctr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10BF683E-EC8C-4F1E-8017-25E57E2CE77B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-1" y="0"/>
            <a:ext cx="12192001" cy="6858001"/>
            <a:chOff x="-1" y="0"/>
            <a:chExt cx="9144001" cy="6858001"/>
          </a:xfrm>
        </p:grpSpPr>
        <p:sp>
          <p:nvSpPr>
            <p:cNvPr id="8" name="자유형: 도형 7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49000"/>
              </a:srgb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10" name="자유형: 도형 9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ah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B6B8BA">
                  <a:alpha val="59000"/>
                </a:srgb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49000"/>
                </a:srgb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3" name="자유형: 도형 12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ah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4" name="자유형: 도형 13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5">
                  <a:alpha val="71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5" name="자유형: 도형 14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42695" y="1121212"/>
            <a:ext cx="7837714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4"/>
          </p:nvPr>
        </p:nvSpPr>
        <p:spPr>
          <a:xfrm>
            <a:off x="2542710" y="2286007"/>
            <a:ext cx="7839569" cy="3429009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</a:p>
          <a:p>
            <a:pPr lvl="0">
              <a:defRPr lang="ko-KR" altLang="en-US"/>
            </a:pPr>
            <a:r>
              <a:rPr lang="ko-KR" altLang="en-US"/>
              <a:t>둘째 목차</a:t>
            </a:r>
          </a:p>
          <a:p>
            <a:pPr lvl="0">
              <a:defRPr lang="ko-KR" altLang="en-US"/>
            </a:pPr>
            <a:r>
              <a:rPr lang="ko-KR" altLang="en-US"/>
              <a:t>셋째 목차</a:t>
            </a:r>
          </a:p>
          <a:p>
            <a:pPr lvl="0">
              <a:defRPr lang="ko-KR" altLang="en-US"/>
            </a:pPr>
            <a:r>
              <a:rPr lang="ko-KR" altLang="en-US"/>
              <a:t>넷째 목차</a:t>
            </a:r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FDD8E82-9EDF-4A21-8052-950E349A4E6B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 rot="10800000" flipH="1">
            <a:off x="10430936" y="4214817"/>
            <a:ext cx="1780898" cy="2672210"/>
            <a:chOff x="7830097" y="-3175"/>
            <a:chExt cx="1335674" cy="3646465"/>
          </a:xfrm>
        </p:grpSpPr>
        <p:sp>
          <p:nvSpPr>
            <p:cNvPr id="8" name="자유형: 도형 7"/>
            <p:cNvSpPr/>
            <p:nvPr/>
          </p:nvSpPr>
          <p:spPr>
            <a:xfrm>
              <a:off x="7858910" y="-3175"/>
              <a:ext cx="1290865" cy="2960833"/>
            </a:xfrm>
            <a:custGeom>
              <a:avLst/>
              <a:gdLst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3062 w 2623457"/>
                <a:gd name="connsiteY2" fmla="*/ 0 h 6063342"/>
                <a:gd name="connsiteX3" fmla="*/ 174172 w 2623457"/>
                <a:gd name="connsiteY3" fmla="*/ 0 h 6063342"/>
                <a:gd name="connsiteX4" fmla="*/ 1556657 w 2623457"/>
                <a:gd name="connsiteY4" fmla="*/ 1545771 h 6063342"/>
                <a:gd name="connsiteX5" fmla="*/ 2623457 w 2623457"/>
                <a:gd name="connsiteY5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85682 h 6085682"/>
                <a:gd name="connsiteX1" fmla="*/ 0 w 2623457"/>
                <a:gd name="connsiteY1" fmla="*/ 22340 h 6085682"/>
                <a:gd name="connsiteX2" fmla="*/ 667 w 2623457"/>
                <a:gd name="connsiteY2" fmla="*/ 0 h 6085682"/>
                <a:gd name="connsiteX3" fmla="*/ 183682 w 2623457"/>
                <a:gd name="connsiteY3" fmla="*/ 9574 h 6085682"/>
                <a:gd name="connsiteX4" fmla="*/ 1556657 w 2623457"/>
                <a:gd name="connsiteY4" fmla="*/ 1568111 h 6085682"/>
                <a:gd name="connsiteX5" fmla="*/ 2623457 w 2623457"/>
                <a:gd name="connsiteY5" fmla="*/ 6085682 h 6085682"/>
                <a:gd name="connsiteX0" fmla="*/ 3030086 w 3030086"/>
                <a:gd name="connsiteY0" fmla="*/ 7076027 h 7076027"/>
                <a:gd name="connsiteX1" fmla="*/ 406629 w 3030086"/>
                <a:gd name="connsiteY1" fmla="*/ 1012685 h 7076027"/>
                <a:gd name="connsiteX2" fmla="*/ 590311 w 3030086"/>
                <a:gd name="connsiteY2" fmla="*/ 999919 h 7076027"/>
                <a:gd name="connsiteX3" fmla="*/ 1963286 w 3030086"/>
                <a:gd name="connsiteY3" fmla="*/ 2558456 h 7076027"/>
                <a:gd name="connsiteX4" fmla="*/ 3030086 w 3030086"/>
                <a:gd name="connsiteY4" fmla="*/ 7076027 h 7076027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30614 w 2630614"/>
                <a:gd name="connsiteY0" fmla="*/ 6076108 h 6076108"/>
                <a:gd name="connsiteX1" fmla="*/ 0 w 2630614"/>
                <a:gd name="connsiteY1" fmla="*/ 5585 h 6076108"/>
                <a:gd name="connsiteX2" fmla="*/ 190839 w 2630614"/>
                <a:gd name="connsiteY2" fmla="*/ 0 h 6076108"/>
                <a:gd name="connsiteX3" fmla="*/ 1563814 w 2630614"/>
                <a:gd name="connsiteY3" fmla="*/ 1558537 h 6076108"/>
                <a:gd name="connsiteX4" fmla="*/ 2630614 w 2630614"/>
                <a:gd name="connsiteY4" fmla="*/ 6076108 h 6076108"/>
                <a:gd name="connsiteX0" fmla="*/ 2635390 w 2635390"/>
                <a:gd name="connsiteY0" fmla="*/ 6076108 h 6076108"/>
                <a:gd name="connsiteX1" fmla="*/ 0 w 2635390"/>
                <a:gd name="connsiteY1" fmla="*/ 797 h 6076108"/>
                <a:gd name="connsiteX2" fmla="*/ 195615 w 2635390"/>
                <a:gd name="connsiteY2" fmla="*/ 0 h 6076108"/>
                <a:gd name="connsiteX3" fmla="*/ 1568590 w 2635390"/>
                <a:gd name="connsiteY3" fmla="*/ 1558537 h 6076108"/>
                <a:gd name="connsiteX4" fmla="*/ 2635390 w 2635390"/>
                <a:gd name="connsiteY4" fmla="*/ 6076108 h 6076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5390" h="6076108">
                  <a:moveTo>
                    <a:pt x="2635390" y="6076108"/>
                  </a:moveTo>
                  <a:lnTo>
                    <a:pt x="0" y="797"/>
                  </a:lnTo>
                  <a:lnTo>
                    <a:pt x="195615" y="0"/>
                  </a:lnTo>
                  <a:lnTo>
                    <a:pt x="1568590" y="1558537"/>
                  </a:lnTo>
                  <a:lnTo>
                    <a:pt x="2635390" y="607610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자유형: 도형 8"/>
            <p:cNvSpPr/>
            <p:nvPr/>
          </p:nvSpPr>
          <p:spPr>
            <a:xfrm>
              <a:off x="8617016" y="737400"/>
              <a:ext cx="543423" cy="2244786"/>
            </a:xfrm>
            <a:custGeom>
              <a:avLst/>
              <a:gdLst>
                <a:gd name="connsiteX0" fmla="*/ 0 w 1088572"/>
                <a:gd name="connsiteY0" fmla="*/ 0 h 4582886"/>
                <a:gd name="connsiteX1" fmla="*/ 1088572 w 1088572"/>
                <a:gd name="connsiteY1" fmla="*/ 1186543 h 4582886"/>
                <a:gd name="connsiteX2" fmla="*/ 1088572 w 1088572"/>
                <a:gd name="connsiteY2" fmla="*/ 4582886 h 4582886"/>
                <a:gd name="connsiteX3" fmla="*/ 0 w 1088572"/>
                <a:gd name="connsiteY3" fmla="*/ 0 h 4582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8572" h="4582886">
                  <a:moveTo>
                    <a:pt x="0" y="0"/>
                  </a:moveTo>
                  <a:lnTo>
                    <a:pt x="1088572" y="1186543"/>
                  </a:lnTo>
                  <a:lnTo>
                    <a:pt x="1088572" y="4582886"/>
                  </a:lnTo>
                  <a:lnTo>
                    <a:pt x="0" y="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자유형: 도형 9"/>
            <p:cNvSpPr/>
            <p:nvPr/>
          </p:nvSpPr>
          <p:spPr>
            <a:xfrm>
              <a:off x="7956911" y="-1619"/>
              <a:ext cx="671047" cy="757711"/>
            </a:xfrm>
            <a:custGeom>
              <a:avLst/>
              <a:gdLst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69988 w 1369988"/>
                <a:gd name="connsiteY0" fmla="*/ 1546919 h 1546919"/>
                <a:gd name="connsiteX1" fmla="*/ 1023257 w 1369988"/>
                <a:gd name="connsiteY1" fmla="*/ 0 h 1546919"/>
                <a:gd name="connsiteX2" fmla="*/ 0 w 1369988"/>
                <a:gd name="connsiteY2" fmla="*/ 0 h 1546919"/>
                <a:gd name="connsiteX3" fmla="*/ 1369988 w 1369988"/>
                <a:gd name="connsiteY3" fmla="*/ 1546919 h 154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988" h="1546919">
                  <a:moveTo>
                    <a:pt x="1369988" y="1546919"/>
                  </a:moveTo>
                  <a:lnTo>
                    <a:pt x="1023257" y="0"/>
                  </a:lnTo>
                  <a:lnTo>
                    <a:pt x="0" y="0"/>
                  </a:lnTo>
                  <a:lnTo>
                    <a:pt x="1369988" y="154691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자유형: 도형 10"/>
            <p:cNvSpPr/>
            <p:nvPr/>
          </p:nvSpPr>
          <p:spPr>
            <a:xfrm>
              <a:off x="8455711" y="-1619"/>
              <a:ext cx="710060" cy="1329898"/>
            </a:xfrm>
            <a:custGeom>
              <a:avLst/>
              <a:gdLst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0 w 1436914"/>
                <a:gd name="connsiteY4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49636"/>
                <a:gd name="connsiteY0" fmla="*/ 0 h 2715079"/>
                <a:gd name="connsiteX1" fmla="*/ 339294 w 1449636"/>
                <a:gd name="connsiteY1" fmla="*/ 1528536 h 2715079"/>
                <a:gd name="connsiteX2" fmla="*/ 1449636 w 1449636"/>
                <a:gd name="connsiteY2" fmla="*/ 2715079 h 2715079"/>
                <a:gd name="connsiteX3" fmla="*/ 1427865 w 1449636"/>
                <a:gd name="connsiteY3" fmla="*/ 4536 h 2715079"/>
                <a:gd name="connsiteX4" fmla="*/ 1421515 w 1449636"/>
                <a:gd name="connsiteY4" fmla="*/ 0 h 2715079"/>
                <a:gd name="connsiteX5" fmla="*/ 0 w 1449636"/>
                <a:gd name="connsiteY5" fmla="*/ 0 h 271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9636" h="2715079">
                  <a:moveTo>
                    <a:pt x="0" y="0"/>
                  </a:moveTo>
                  <a:lnTo>
                    <a:pt x="339294" y="1528536"/>
                  </a:lnTo>
                  <a:lnTo>
                    <a:pt x="1449636" y="2715079"/>
                  </a:lnTo>
                  <a:lnTo>
                    <a:pt x="1427865" y="4536"/>
                  </a:lnTo>
                  <a:lnTo>
                    <a:pt x="1421515" y="0"/>
                  </a:lnTo>
                  <a:lnTo>
                    <a:pt x="0" y="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자유형: 도형 11"/>
            <p:cNvSpPr/>
            <p:nvPr/>
          </p:nvSpPr>
          <p:spPr>
            <a:xfrm>
              <a:off x="7830097" y="-1619"/>
              <a:ext cx="1325010" cy="3644909"/>
            </a:xfrm>
            <a:custGeom>
              <a:avLst/>
              <a:gdLst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49993 w 2705100"/>
                <a:gd name="connsiteY2" fmla="*/ 9525 h 6867525"/>
                <a:gd name="connsiteX3" fmla="*/ 0 w 2705100"/>
                <a:gd name="connsiteY3" fmla="*/ 9525 h 6867525"/>
                <a:gd name="connsiteX4" fmla="*/ 2295525 w 2705100"/>
                <a:gd name="connsiteY4" fmla="*/ 6858000 h 6867525"/>
                <a:gd name="connsiteX5" fmla="*/ 2695575 w 2705100"/>
                <a:gd name="connsiteY5" fmla="*/ 6867525 h 6867525"/>
                <a:gd name="connsiteX6" fmla="*/ 2705100 w 2705100"/>
                <a:gd name="connsiteY6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295525 w 2705100"/>
                <a:gd name="connsiteY3" fmla="*/ 6848475 h 6858000"/>
                <a:gd name="connsiteX4" fmla="*/ 2695575 w 2705100"/>
                <a:gd name="connsiteY4" fmla="*/ 6858000 h 6858000"/>
                <a:gd name="connsiteX5" fmla="*/ 2705100 w 2705100"/>
                <a:gd name="connsiteY5" fmla="*/ 6076950 h 6858000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695575 w 2705100"/>
                <a:gd name="connsiteY3" fmla="*/ 6858000 h 6858000"/>
                <a:gd name="connsiteX4" fmla="*/ 2705100 w 2705100"/>
                <a:gd name="connsiteY4" fmla="*/ 6076950 h 6858000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100" h="7441333">
                  <a:moveTo>
                    <a:pt x="2705100" y="6076950"/>
                  </a:moveTo>
                  <a:lnTo>
                    <a:pt x="64280" y="0"/>
                  </a:lnTo>
                  <a:lnTo>
                    <a:pt x="0" y="0"/>
                  </a:lnTo>
                  <a:lnTo>
                    <a:pt x="2695576" y="7441333"/>
                  </a:lnTo>
                  <a:cubicBezTo>
                    <a:pt x="2698751" y="6986539"/>
                    <a:pt x="2701925" y="6531744"/>
                    <a:pt x="2705100" y="6076950"/>
                  </a:cubicBezTo>
                </a:path>
              </a:pathLst>
            </a:cu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63098" y="274638"/>
            <a:ext cx="20192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7121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16753771-9475-4309-9B2C-4F43EB0294C6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 userDrawn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본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B5AD51E-EDE3-4554-8782-11E738996C1C}" type="datetime1">
              <a:rPr lang="ko-KR" altLang="en-US"/>
              <a:pPr lvl="0">
                <a:defRPr/>
              </a:pPr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4E82A7E8-4A64-44D8-8D46-3287F451E20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교차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자유형: 도형 99"/>
          <p:cNvSpPr/>
          <p:nvPr/>
        </p:nvSpPr>
        <p:spPr>
          <a:xfrm>
            <a:off x="1732842" y="3147876"/>
            <a:ext cx="6308395" cy="3037101"/>
          </a:xfrm>
          <a:custGeom>
            <a:avLst/>
            <a:gdLst>
              <a:gd name="connsiteX0" fmla="*/ 0 w 4175"/>
              <a:gd name="connsiteY0" fmla="*/ 0 h 2538"/>
              <a:gd name="connsiteX1" fmla="*/ 12 w 4175"/>
              <a:gd name="connsiteY1" fmla="*/ 44 h 2538"/>
              <a:gd name="connsiteX2" fmla="*/ 685 w 4175"/>
              <a:gd name="connsiteY2" fmla="*/ 2538 h 2538"/>
              <a:gd name="connsiteX3" fmla="*/ 4175 w 4175"/>
              <a:gd name="connsiteY3" fmla="*/ 1923 h 2538"/>
              <a:gd name="connsiteX4" fmla="*/ 25 w 4175"/>
              <a:gd name="connsiteY4" fmla="*/ 11 h 2538"/>
              <a:gd name="connsiteX5" fmla="*/ 0 w 4175"/>
              <a:gd name="connsiteY5" fmla="*/ 0 h 2538"/>
              <a:gd name="connsiteX0" fmla="*/ 0 w 4003"/>
              <a:gd name="connsiteY0" fmla="*/ 0 h 2538"/>
              <a:gd name="connsiteX1" fmla="*/ 12 w 4003"/>
              <a:gd name="connsiteY1" fmla="*/ 44 h 2538"/>
              <a:gd name="connsiteX2" fmla="*/ 685 w 4003"/>
              <a:gd name="connsiteY2" fmla="*/ 2538 h 2538"/>
              <a:gd name="connsiteX3" fmla="*/ 4003 w 4003"/>
              <a:gd name="connsiteY3" fmla="*/ 1844 h 2538"/>
              <a:gd name="connsiteX4" fmla="*/ 25 w 4003"/>
              <a:gd name="connsiteY4" fmla="*/ 11 h 2538"/>
              <a:gd name="connsiteX5" fmla="*/ 0 w 4003"/>
              <a:gd name="connsiteY5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553 w 4531"/>
              <a:gd name="connsiteY0" fmla="*/ 0 h 2527"/>
              <a:gd name="connsiteX1" fmla="*/ 1213 w 4531"/>
              <a:gd name="connsiteY1" fmla="*/ 2527 h 2527"/>
              <a:gd name="connsiteX2" fmla="*/ 4531 w 4531"/>
              <a:gd name="connsiteY2" fmla="*/ 1833 h 2527"/>
              <a:gd name="connsiteX3" fmla="*/ 553 w 4531"/>
              <a:gd name="connsiteY3" fmla="*/ 0 h 2527"/>
              <a:gd name="connsiteX0" fmla="*/ 3 w 3981"/>
              <a:gd name="connsiteY0" fmla="*/ 0 h 2527"/>
              <a:gd name="connsiteX1" fmla="*/ 663 w 3981"/>
              <a:gd name="connsiteY1" fmla="*/ 2527 h 2527"/>
              <a:gd name="connsiteX2" fmla="*/ 3981 w 3981"/>
              <a:gd name="connsiteY2" fmla="*/ 1833 h 2527"/>
              <a:gd name="connsiteX3" fmla="*/ 3 w 3981"/>
              <a:gd name="connsiteY3" fmla="*/ 0 h 2527"/>
              <a:gd name="connsiteX0" fmla="*/ 0 w 3978"/>
              <a:gd name="connsiteY0" fmla="*/ 0 h 2527"/>
              <a:gd name="connsiteX1" fmla="*/ 660 w 3978"/>
              <a:gd name="connsiteY1" fmla="*/ 2527 h 2527"/>
              <a:gd name="connsiteX2" fmla="*/ 3978 w 3978"/>
              <a:gd name="connsiteY2" fmla="*/ 1833 h 2527"/>
              <a:gd name="connsiteX3" fmla="*/ 0 w 3978"/>
              <a:gd name="connsiteY3" fmla="*/ 0 h 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" h="2527">
                <a:moveTo>
                  <a:pt x="0" y="0"/>
                </a:moveTo>
                <a:cubicBezTo>
                  <a:pt x="90" y="449"/>
                  <a:pt x="484" y="1911"/>
                  <a:pt x="660" y="2527"/>
                </a:cubicBezTo>
                <a:lnTo>
                  <a:pt x="3978" y="1833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20000"/>
              <a:lumOff val="80000"/>
              <a:alpha val="26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grpSp>
        <p:nvGrpSpPr>
          <p:cNvPr id="107" name="그룹 106"/>
          <p:cNvGrpSpPr/>
          <p:nvPr/>
        </p:nvGrpSpPr>
        <p:grpSpPr>
          <a:xfrm>
            <a:off x="-1" y="0"/>
            <a:ext cx="12192001" cy="6858001"/>
            <a:chOff x="-1" y="0"/>
            <a:chExt cx="9144001" cy="6858001"/>
          </a:xfrm>
        </p:grpSpPr>
        <p:sp>
          <p:nvSpPr>
            <p:cNvPr id="102" name="자유형: 도형 101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15000"/>
              </a:srgb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106" name="그룹 105"/>
            <p:cNvGrpSpPr/>
            <p:nvPr/>
          </p:nvGrpSpPr>
          <p:grpSpPr>
            <a:xfrm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98" name="자유형: 도형 97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ah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  <a:alpha val="31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9" name="자유형: 도형 98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C6C8CA">
                  <a:alpha val="17000"/>
                </a:srgb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1" name="자유형: 도형 100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6000"/>
                </a:srgb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3" name="자유형: 도형 102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ah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27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7" name="자유형: 도형 96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31799" y="1308100"/>
            <a:ext cx="11302999" cy="49609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  <a:p>
            <a:pPr lvl="8">
              <a:defRPr lang="ko-KR" altLang="en-US"/>
            </a:pP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FD839B8E-F55D-4BF8-852C-25AF74D46B3E}" type="datetime1">
              <a:rPr lang="ko-KR" altLang="en-US"/>
              <a:pPr>
                <a:defRPr lang="ko-KR" altLang="en-US"/>
              </a:pPr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02" r:id="rId1"/>
    <p:sldLayoutId id="2147484403" r:id="rId2"/>
    <p:sldLayoutId id="2147484404" r:id="rId3"/>
    <p:sldLayoutId id="2147484405" r:id="rId4"/>
    <p:sldLayoutId id="2147484406" r:id="rId5"/>
    <p:sldLayoutId id="2147484407" r:id="rId6"/>
    <p:sldLayoutId id="2147484408" r:id="rId7"/>
    <p:sldLayoutId id="2147484409" r:id="rId8"/>
    <p:sldLayoutId id="2147484410" r:id="rId9"/>
    <p:sldLayoutId id="2147484411" r:id="rId10"/>
    <p:sldLayoutId id="2147484412" r:id="rId11"/>
    <p:sldLayoutId id="2147484413" r:id="rId12"/>
    <p:sldLayoutId id="2147484414" r:id="rId13"/>
  </p:sldLayoutIdLst>
  <p:transition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8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66700" indent="-306700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80000"/>
        <a:buFont typeface="Wingdings 3"/>
        <a:buChar char="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–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tabLst>
          <a:tab pos="1349375" algn="l"/>
        </a:tabLst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kkms4001.iptime.org/~c16st30/portfolio/matrixcalculator/build/html/matrixcalculator.html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://kkms4001.iptime.org/~c16st30/portfolio/matrixcalculator/build/html/matrixcalculator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://kkms4001.iptime.org/~c16st30/portfolio/matrixcalculator/build/html/matrixcalculator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://kkms4001.iptime.org/~c16st30/portfolio/matrixcalculator/build/html/matrixcalculator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://kkms4001.iptime.org/~c16st30/portfolio/matrixcalculator/build/html/matrixcalculator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://kkms4001.iptime.org/~c16st30/portfolio/matrixcalculator/build/html/matrixcalculator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://kkms4001.iptime.org/~c16st30/portfolio/matrixcalculator/build/html/matrixcalculator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://kkms4001.iptime.org/~c16st30/portfolio/matrixcalculator/build/html/matrixcalculator.html" TargetMode="Externa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/~c16st30/portfolio/matrixcalculator/build/html/matrixcalculato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kkms4001.iptime.org/~c16st30/portfolio/matrixcalculator/build/html/matrixcalculator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ko-KR" sz="8000" b="1">
                <a:solidFill>
                  <a:schemeClr val="bg2"/>
                </a:solidFill>
                <a:effectLst>
                  <a:glow rad="63500">
                    <a:srgbClr val="BDDBEC">
                      <a:alpha val="40000"/>
                    </a:srgbClr>
                  </a:glow>
                  <a:outerShdw blurRad="76200" dist="76200" dir="5400000" algn="ctr" rotWithShape="0">
                    <a:srgbClr val="000000">
                      <a:alpha val="50000"/>
                    </a:srgbClr>
                  </a:outerShdw>
                </a:effectLst>
                <a:latin typeface="휴먼편지체"/>
                <a:ea typeface="휴먼편지체"/>
              </a:rPr>
              <a:t>Matrix Calculator</a:t>
            </a:r>
            <a:endParaRPr lang="en-US" altLang="ko-KR" sz="8000" b="1">
              <a:solidFill>
                <a:schemeClr val="bg2"/>
              </a:solidFill>
              <a:latin typeface="휴먼편지체"/>
              <a:ea typeface="휴먼편지체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4000">
                <a:effectLst>
                  <a:outerShdw blurRad="76200" dist="76200" algn="ctr" rotWithShape="0">
                    <a:srgbClr val="000000">
                      <a:alpha val="50000"/>
                    </a:srgbClr>
                  </a:outerShdw>
                </a:effectLst>
                <a:latin typeface="휴먼편지체"/>
                <a:ea typeface="휴먼편지체"/>
              </a:rPr>
              <a:t>Made By </a:t>
            </a:r>
            <a:r>
              <a:rPr lang="ko-KR" altLang="en-US" sz="4000">
                <a:effectLst>
                  <a:outerShdw blurRad="76200" dist="76200" algn="ctr" rotWithShape="0">
                    <a:srgbClr val="000000">
                      <a:alpha val="50000"/>
                    </a:srgbClr>
                  </a:outerShdw>
                </a:effectLst>
                <a:latin typeface="휴먼편지체"/>
                <a:ea typeface="휴먼편지체"/>
              </a:rPr>
              <a:t>함중욱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31799" y="123802"/>
            <a:ext cx="4379632" cy="939784"/>
          </a:xfrm>
        </p:spPr>
        <p:txBody>
          <a:bodyPr/>
          <a:lstStyle/>
          <a:p>
            <a:pPr>
              <a:defRPr/>
            </a:pPr>
            <a:r>
              <a:rPr lang="en-US" altLang="ko-KR" sz="8000">
                <a:effectLst/>
                <a:latin typeface="휴먼편지체"/>
                <a:ea typeface="휴먼편지체"/>
              </a:rPr>
              <a:t>INDEX</a:t>
            </a:r>
            <a:endParaRPr lang="en-US" altLang="ko-KR" sz="8000">
              <a:latin typeface="휴먼편지체"/>
              <a:ea typeface="휴먼편지체"/>
            </a:endParaRPr>
          </a:p>
        </p:txBody>
      </p:sp>
      <p:sp>
        <p:nvSpPr>
          <p:cNvPr id="4" name="세로 텍스트 개체 틀 3"/>
          <p:cNvSpPr>
            <a:spLocks noGrp="1"/>
          </p:cNvSpPr>
          <p:nvPr>
            <p:ph type="body" orient="vert" idx="1"/>
          </p:nvPr>
        </p:nvSpPr>
        <p:spPr>
          <a:xfrm>
            <a:off x="2983470" y="1995074"/>
            <a:ext cx="8285085" cy="4328777"/>
          </a:xfrm>
        </p:spPr>
        <p:txBody>
          <a:bodyPr vert="horz" wrap="square" lIns="91440" tIns="45720" rIns="91440" bIns="45720" anchor="t"/>
          <a:lstStyle/>
          <a:p>
            <a:pPr marL="857250" indent="-857250">
              <a:buFont typeface="휴먼편지체"/>
              <a:buChar char="Ⅰ"/>
              <a:defRPr/>
            </a:pPr>
            <a:r>
              <a:rPr lang="ko-KR" altLang="en-US" sz="6000" dirty="0">
                <a:latin typeface="휴먼편지체"/>
                <a:ea typeface="휴먼편지체"/>
              </a:rPr>
              <a:t>스케치</a:t>
            </a:r>
            <a:r>
              <a:rPr lang="en-US" altLang="ko-KR" sz="6000" dirty="0">
                <a:latin typeface="휴먼편지체"/>
                <a:ea typeface="휴먼편지체"/>
              </a:rPr>
              <a:t> </a:t>
            </a:r>
            <a:r>
              <a:rPr lang="en-US" altLang="ko-KR" sz="3000" dirty="0">
                <a:latin typeface="휴먼편지체"/>
                <a:ea typeface="휴먼편지체"/>
              </a:rPr>
              <a:t>p.2</a:t>
            </a:r>
          </a:p>
          <a:p>
            <a:pPr marL="857250" indent="-857250">
              <a:buFont typeface="휴먼편지체"/>
              <a:buChar char="Ⅱ"/>
              <a:defRPr/>
            </a:pPr>
            <a:r>
              <a:rPr lang="ko-KR" altLang="en-US" sz="6000" dirty="0">
                <a:latin typeface="휴먼편지체"/>
                <a:ea typeface="휴먼편지체"/>
              </a:rPr>
              <a:t>행렬 계산기 소개</a:t>
            </a:r>
            <a:r>
              <a:rPr lang="en-US" altLang="ko-KR" sz="6000" dirty="0">
                <a:latin typeface="휴먼편지체"/>
                <a:ea typeface="휴먼편지체"/>
              </a:rPr>
              <a:t> </a:t>
            </a:r>
            <a:r>
              <a:rPr lang="en-US" altLang="ko-KR" sz="3000" dirty="0">
                <a:latin typeface="휴먼편지체"/>
                <a:ea typeface="휴먼편지체"/>
              </a:rPr>
              <a:t>p.3~5</a:t>
            </a:r>
          </a:p>
          <a:p>
            <a:pPr marL="857250" indent="-857250">
              <a:buFont typeface="휴먼편지체"/>
              <a:buChar char="Ⅲ"/>
              <a:defRPr/>
            </a:pPr>
            <a:r>
              <a:rPr lang="ko-KR" altLang="en-US" sz="6000" dirty="0">
                <a:latin typeface="휴먼편지체"/>
                <a:ea typeface="휴먼편지체"/>
              </a:rPr>
              <a:t>코딩</a:t>
            </a:r>
            <a:r>
              <a:rPr lang="en-US" altLang="ko-KR" sz="6000" dirty="0">
                <a:latin typeface="휴먼편지체"/>
                <a:ea typeface="휴먼편지체"/>
              </a:rPr>
              <a:t> </a:t>
            </a:r>
            <a:r>
              <a:rPr lang="en-US" altLang="ko-KR" sz="3000" dirty="0">
                <a:latin typeface="휴먼편지체"/>
                <a:ea typeface="휴먼편지체"/>
              </a:rPr>
              <a:t>p.6~17</a:t>
            </a:r>
          </a:p>
          <a:p>
            <a:pPr marL="857250" indent="-857250">
              <a:buFont typeface="휴먼편지체"/>
              <a:buChar char="Ⅳ"/>
              <a:defRPr/>
            </a:pPr>
            <a:r>
              <a:rPr lang="ko-KR" altLang="en-US" sz="6000" dirty="0">
                <a:latin typeface="휴먼편지체"/>
                <a:ea typeface="휴먼편지체"/>
              </a:rPr>
              <a:t>후기 </a:t>
            </a:r>
            <a:r>
              <a:rPr lang="en-US" altLang="ko-KR" sz="3000" dirty="0">
                <a:latin typeface="휴먼편지체"/>
                <a:ea typeface="휴먼편지체"/>
              </a:rPr>
              <a:t>p.18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94555" y="6323852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</a:t>
            </a:r>
          </a:p>
        </p:txBody>
      </p:sp>
      <p:pic>
        <p:nvPicPr>
          <p:cNvPr id="6" name="그림 5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8000">
                <a:effectLst/>
                <a:latin typeface="휴먼편지체"/>
                <a:ea typeface="휴먼편지체"/>
              </a:rPr>
              <a:t>스케치</a:t>
            </a:r>
            <a:endParaRPr lang="ko-KR" altLang="en-US" sz="8000">
              <a:latin typeface="휴먼편지체"/>
              <a:ea typeface="휴먼편지체"/>
            </a:endParaRP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528258" y="1359365"/>
            <a:ext cx="10656010" cy="5024071"/>
          </a:xfrm>
          <a:prstGeom prst="rect">
            <a:avLst/>
          </a:prstGeom>
          <a:effectLst>
            <a:glow rad="63500">
              <a:srgbClr val="BCDAEB">
                <a:alpha val="90000"/>
              </a:srgbClr>
            </a:glow>
            <a:outerShdw blurRad="254000" dist="50800" dir="2700000" algn="ctr" rotWithShape="0">
              <a:srgbClr val="000000">
                <a:alpha val="50000"/>
              </a:srgbClr>
            </a:outerShdw>
            <a:softEdge rad="38100"/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" name="TextBox 3"/>
          <p:cNvSpPr txBox="1"/>
          <p:nvPr/>
        </p:nvSpPr>
        <p:spPr>
          <a:xfrm>
            <a:off x="11694555" y="6323852"/>
            <a:ext cx="341236" cy="3640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한컴 바겐세일 B"/>
                <a:ea typeface="한컴 바겐세일 B"/>
              </a:rPr>
              <a:t>2</a:t>
            </a:r>
          </a:p>
        </p:txBody>
      </p:sp>
      <p:pic>
        <p:nvPicPr>
          <p:cNvPr id="7" name="그림 6">
            <a:hlinkClick r:id="rId3"/>
            <a:extLst>
              <a:ext uri="{FF2B5EF4-FFF2-40B4-BE49-F238E27FC236}">
                <a16:creationId xmlns:a16="http://schemas.microsoft.com/office/drawing/2014/main" id="{8CE37A20-F604-48D3-B883-36881EA669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4F5D8DB-85A5-4079-8760-38F730B6F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8" y="1294912"/>
            <a:ext cx="11049001" cy="521360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4499" y="143645"/>
            <a:ext cx="11302999" cy="1440180"/>
          </a:xfrm>
        </p:spPr>
        <p:txBody>
          <a:bodyPr/>
          <a:lstStyle/>
          <a:p>
            <a:pPr marL="0" indent="0">
              <a:buClr>
                <a:schemeClr val="accent6"/>
              </a:buClr>
              <a:buNone/>
              <a:defRPr/>
            </a:pPr>
            <a:r>
              <a:rPr lang="ko-KR" altLang="en-US" sz="6000" dirty="0">
                <a:effectLst/>
                <a:latin typeface="휴먼편지체"/>
                <a:ea typeface="휴먼편지체"/>
              </a:rPr>
              <a:t>행렬 계산기 소개</a:t>
            </a:r>
            <a:br>
              <a:rPr lang="ko-KR" altLang="en-US" sz="4000" dirty="0">
                <a:effectLst/>
                <a:latin typeface="휴먼편지체"/>
                <a:ea typeface="휴먼편지체"/>
              </a:rPr>
            </a:br>
            <a:endParaRPr lang="ko-KR" altLang="en-US" sz="3000" dirty="0">
              <a:effectLst/>
              <a:latin typeface="휴먼편지체"/>
              <a:ea typeface="휴먼편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94555" y="6323852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224" y="1114282"/>
            <a:ext cx="2755266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3"/>
              </a:buBlip>
              <a:defRPr/>
            </a:pPr>
            <a:r>
              <a:rPr lang="ko-KR" altLang="en-US" sz="4000">
                <a:effectLst/>
                <a:latin typeface="휴먼편지체"/>
                <a:ea typeface="휴먼편지체"/>
              </a:rPr>
              <a:t>전체화면</a:t>
            </a:r>
            <a:endParaRPr lang="ko-KR" altLang="en-US" sz="4000">
              <a:latin typeface="휴먼편지체"/>
              <a:ea typeface="휴먼편지체"/>
            </a:endParaRPr>
          </a:p>
        </p:txBody>
      </p:sp>
      <p:pic>
        <p:nvPicPr>
          <p:cNvPr id="7" name="그림 6">
            <a:hlinkClick r:id="rId4"/>
            <a:extLst>
              <a:ext uri="{FF2B5EF4-FFF2-40B4-BE49-F238E27FC236}">
                <a16:creationId xmlns:a16="http://schemas.microsoft.com/office/drawing/2014/main" id="{C77DF213-EF19-4BD5-9D00-7228349781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C7ED7A9-D400-4214-A3CD-0FA7C99B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1" y="1214727"/>
            <a:ext cx="11340135" cy="302520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51" y="144906"/>
            <a:ext cx="11302999" cy="939784"/>
          </a:xfrm>
        </p:spPr>
        <p:txBody>
          <a:bodyPr/>
          <a:lstStyle/>
          <a:p>
            <a:pPr>
              <a:defRPr/>
            </a:pPr>
            <a:r>
              <a:rPr lang="ko-KR" altLang="en-US" sz="6000">
                <a:effectLst/>
                <a:latin typeface="휴먼편지체"/>
                <a:ea typeface="휴먼편지체"/>
              </a:rPr>
              <a:t>행렬 계산기 소개</a:t>
            </a:r>
            <a:endParaRPr lang="en-US" altLang="ko-KR" sz="6000">
              <a:effectLst/>
              <a:latin typeface="휴먼편지체"/>
              <a:ea typeface="휴먼편지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751" y="4928414"/>
            <a:ext cx="28722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dirty="0">
                <a:latin typeface="휴먼엑스포"/>
                <a:ea typeface="휴먼엑스포"/>
              </a:rPr>
              <a:t>1.</a:t>
            </a:r>
            <a:r>
              <a:rPr lang="ko-KR" altLang="en-US" sz="1600" dirty="0">
                <a:latin typeface="휴먼엑스포"/>
                <a:ea typeface="휴먼엑스포"/>
              </a:rPr>
              <a:t> 행과 열의 개수를 입력 </a:t>
            </a:r>
          </a:p>
          <a:p>
            <a:pPr>
              <a:defRPr/>
            </a:pPr>
            <a:r>
              <a:rPr lang="ko-KR" altLang="en-US" sz="1600" dirty="0">
                <a:latin typeface="휴먼엑스포"/>
                <a:ea typeface="휴먼엑스포"/>
              </a:rPr>
              <a:t>   </a:t>
            </a:r>
            <a:r>
              <a:rPr lang="en-US" altLang="ko-KR" sz="1600" dirty="0">
                <a:latin typeface="휴먼엑스포"/>
                <a:ea typeface="휴먼엑스포"/>
              </a:rPr>
              <a:t>1~9</a:t>
            </a:r>
            <a:r>
              <a:rPr lang="ko-KR" altLang="en-US" sz="1600" dirty="0">
                <a:latin typeface="휴먼엑스포"/>
                <a:ea typeface="휴먼엑스포"/>
              </a:rPr>
              <a:t>의 숫자 중 입력합니다</a:t>
            </a:r>
            <a:r>
              <a:rPr lang="en-US" altLang="ko-KR" sz="1600" dirty="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8272" y="4917103"/>
            <a:ext cx="28722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dirty="0">
                <a:latin typeface="휴먼엑스포"/>
                <a:ea typeface="휴먼엑스포"/>
              </a:rPr>
              <a:t>2.</a:t>
            </a:r>
            <a:r>
              <a:rPr lang="ko-KR" altLang="en-US" sz="1600" dirty="0">
                <a:latin typeface="휴먼엑스포"/>
                <a:ea typeface="휴먼엑스포"/>
              </a:rPr>
              <a:t> 행과 열의 개수를 입력</a:t>
            </a:r>
          </a:p>
          <a:p>
            <a:pPr>
              <a:defRPr/>
            </a:pPr>
            <a:r>
              <a:rPr lang="ko-KR" altLang="en-US" sz="1600" dirty="0">
                <a:latin typeface="휴먼엑스포"/>
                <a:ea typeface="휴먼엑스포"/>
              </a:rPr>
              <a:t>   </a:t>
            </a:r>
            <a:r>
              <a:rPr lang="en-US" altLang="ko-KR" sz="1600" dirty="0">
                <a:latin typeface="휴먼엑스포"/>
                <a:ea typeface="휴먼엑스포"/>
              </a:rPr>
              <a:t>1~9</a:t>
            </a:r>
            <a:r>
              <a:rPr lang="ko-KR" altLang="en-US" sz="1600" dirty="0">
                <a:latin typeface="휴먼엑스포"/>
                <a:ea typeface="휴먼엑스포"/>
              </a:rPr>
              <a:t>의 숫자 중 입력합니다</a:t>
            </a:r>
            <a:r>
              <a:rPr lang="en-US" altLang="ko-KR" sz="1600" dirty="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78" y="4760981"/>
            <a:ext cx="4658588" cy="2108269"/>
          </a:xfrm>
          <a:prstGeom prst="rect">
            <a:avLst/>
          </a:prstGeom>
        </p:spPr>
        <p:txBody>
          <a:bodyPr wrap="square" bIns="0">
            <a:spAutoFit/>
          </a:bodyPr>
          <a:lstStyle/>
          <a:p>
            <a:pPr>
              <a:defRPr/>
            </a:pPr>
            <a:r>
              <a:rPr lang="en-US" altLang="ko-KR" sz="1400" dirty="0">
                <a:latin typeface="휴먼엑스포"/>
                <a:ea typeface="휴먼엑스포"/>
              </a:rPr>
              <a:t>3.</a:t>
            </a:r>
            <a:r>
              <a:rPr lang="ko-KR" altLang="en-US" sz="1400" dirty="0">
                <a:latin typeface="휴먼엑스포"/>
                <a:ea typeface="휴먼엑스포"/>
              </a:rPr>
              <a:t> 자동완성</a:t>
            </a:r>
            <a:r>
              <a:rPr lang="en-US" altLang="ko-KR" sz="1400" dirty="0">
                <a:latin typeface="휴먼엑스포"/>
                <a:ea typeface="휴먼엑스포"/>
              </a:rPr>
              <a:t>:</a:t>
            </a:r>
            <a:r>
              <a:rPr lang="ko-KR" altLang="en-US" sz="1400" dirty="0">
                <a:latin typeface="휴먼엑스포"/>
                <a:ea typeface="휴먼엑스포"/>
              </a:rPr>
              <a:t> </a:t>
            </a:r>
            <a:r>
              <a:rPr lang="en-US" altLang="ko-KR" sz="1400" dirty="0">
                <a:latin typeface="휴먼엑스포"/>
                <a:ea typeface="휴먼엑스포"/>
              </a:rPr>
              <a:t>1,2</a:t>
            </a:r>
            <a:r>
              <a:rPr lang="ko-KR" altLang="en-US" sz="1400" dirty="0">
                <a:latin typeface="휴먼엑스포"/>
                <a:ea typeface="휴먼엑스포"/>
              </a:rPr>
              <a:t>의 입력된 행과 열의 값이 </a:t>
            </a:r>
            <a:r>
              <a:rPr lang="en-US" altLang="ko-KR" sz="1400" dirty="0">
                <a:latin typeface="휴먼엑스포"/>
                <a:ea typeface="휴먼엑스포"/>
              </a:rPr>
              <a:t>1~99</a:t>
            </a:r>
            <a:r>
              <a:rPr lang="ko-KR" altLang="en-US" sz="1400" dirty="0">
                <a:latin typeface="휴먼엑스포"/>
                <a:ea typeface="휴먼엑스포"/>
              </a:rPr>
              <a:t>까지</a:t>
            </a:r>
          </a:p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   랜덤으로 입력 됩니다</a:t>
            </a:r>
            <a:r>
              <a:rPr lang="en-US" altLang="ko-KR" sz="1400" dirty="0">
                <a:latin typeface="휴먼엑스포"/>
                <a:ea typeface="휴먼엑스포"/>
              </a:rPr>
              <a:t>.</a:t>
            </a:r>
          </a:p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   직접입력</a:t>
            </a:r>
            <a:r>
              <a:rPr lang="en-US" altLang="ko-KR" sz="1400" dirty="0">
                <a:latin typeface="휴먼엑스포"/>
                <a:ea typeface="휴먼엑스포"/>
              </a:rPr>
              <a:t>:</a:t>
            </a:r>
            <a:r>
              <a:rPr lang="ko-KR" altLang="en-US" sz="1400" dirty="0">
                <a:latin typeface="휴먼엑스포"/>
                <a:ea typeface="휴먼엑스포"/>
              </a:rPr>
              <a:t> 입력된 행과 열의 값을 직접 입력합니다</a:t>
            </a:r>
            <a:r>
              <a:rPr lang="en-US" altLang="ko-KR" sz="1400" dirty="0">
                <a:latin typeface="휴먼엑스포"/>
                <a:ea typeface="휴먼엑스포"/>
              </a:rPr>
              <a:t>.</a:t>
            </a:r>
          </a:p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   리셋</a:t>
            </a:r>
            <a:r>
              <a:rPr lang="en-US" altLang="ko-KR" sz="1400" dirty="0">
                <a:latin typeface="휴먼엑스포"/>
                <a:ea typeface="휴먼엑스포"/>
              </a:rPr>
              <a:t>:</a:t>
            </a:r>
            <a:r>
              <a:rPr lang="ko-KR" altLang="en-US" sz="1400" dirty="0">
                <a:latin typeface="휴먼엑스포"/>
                <a:ea typeface="휴먼엑스포"/>
              </a:rPr>
              <a:t> </a:t>
            </a:r>
            <a:r>
              <a:rPr lang="en-US" altLang="ko-KR" sz="1400" dirty="0">
                <a:latin typeface="휴먼엑스포"/>
                <a:ea typeface="휴먼엑스포"/>
              </a:rPr>
              <a:t>1,2</a:t>
            </a:r>
            <a:r>
              <a:rPr lang="ko-KR" altLang="en-US" sz="1400" dirty="0">
                <a:latin typeface="휴먼엑스포"/>
                <a:ea typeface="휴먼엑스포"/>
              </a:rPr>
              <a:t>의 행과 열의 값을 초기화합니다</a:t>
            </a:r>
            <a:r>
              <a:rPr lang="en-US" altLang="ko-KR" sz="1400" dirty="0">
                <a:latin typeface="휴먼엑스포"/>
                <a:ea typeface="휴먼엑스포"/>
              </a:rPr>
              <a:t>.</a:t>
            </a:r>
          </a:p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   더하기</a:t>
            </a:r>
            <a:r>
              <a:rPr lang="en-US" altLang="ko-KR" sz="1400" dirty="0">
                <a:latin typeface="휴먼엑스포"/>
                <a:ea typeface="휴먼엑스포"/>
              </a:rPr>
              <a:t>:</a:t>
            </a:r>
            <a:r>
              <a:rPr lang="ko-KR" altLang="en-US" sz="1400" dirty="0">
                <a:latin typeface="휴먼엑스포"/>
                <a:ea typeface="휴먼엑스포"/>
              </a:rPr>
              <a:t> </a:t>
            </a:r>
            <a:r>
              <a:rPr lang="en-US" altLang="ko-KR" sz="1400" dirty="0">
                <a:latin typeface="휴먼엑스포"/>
                <a:ea typeface="휴먼엑스포"/>
              </a:rPr>
              <a:t>1,2</a:t>
            </a:r>
            <a:r>
              <a:rPr lang="ko-KR" altLang="en-US" sz="1400" dirty="0">
                <a:latin typeface="휴먼엑스포"/>
                <a:ea typeface="휴먼엑스포"/>
              </a:rPr>
              <a:t>의 행과 열의 값을 더합니다</a:t>
            </a:r>
            <a:r>
              <a:rPr lang="en-US" altLang="ko-KR" sz="1400" dirty="0">
                <a:latin typeface="휴먼엑스포"/>
                <a:ea typeface="휴먼엑스포"/>
              </a:rPr>
              <a:t>.</a:t>
            </a:r>
          </a:p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   빼기</a:t>
            </a:r>
            <a:r>
              <a:rPr lang="en-US" altLang="ko-KR" sz="1400" dirty="0">
                <a:latin typeface="휴먼엑스포"/>
                <a:ea typeface="휴먼엑스포"/>
              </a:rPr>
              <a:t>:</a:t>
            </a:r>
            <a:r>
              <a:rPr lang="ko-KR" altLang="en-US" sz="1400" dirty="0">
                <a:latin typeface="휴먼엑스포"/>
                <a:ea typeface="휴먼엑스포"/>
              </a:rPr>
              <a:t> </a:t>
            </a:r>
            <a:r>
              <a:rPr lang="en-US" altLang="ko-KR" sz="1400" dirty="0">
                <a:latin typeface="휴먼엑스포"/>
                <a:ea typeface="휴먼엑스포"/>
              </a:rPr>
              <a:t>1,2</a:t>
            </a:r>
            <a:r>
              <a:rPr lang="ko-KR" altLang="en-US" sz="1400" dirty="0">
                <a:latin typeface="휴먼엑스포"/>
                <a:ea typeface="휴먼엑스포"/>
              </a:rPr>
              <a:t>의 행과 열의 값을 뺍니다</a:t>
            </a:r>
            <a:r>
              <a:rPr lang="en-US" altLang="ko-KR" sz="1400" dirty="0">
                <a:latin typeface="휴먼엑스포"/>
                <a:ea typeface="휴먼엑스포"/>
              </a:rPr>
              <a:t>.</a:t>
            </a:r>
          </a:p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   곱하기</a:t>
            </a:r>
            <a:r>
              <a:rPr lang="en-US" altLang="ko-KR" sz="1400" dirty="0">
                <a:latin typeface="휴먼엑스포"/>
                <a:ea typeface="휴먼엑스포"/>
              </a:rPr>
              <a:t>:</a:t>
            </a:r>
            <a:r>
              <a:rPr lang="ko-KR" altLang="en-US" sz="1400" dirty="0">
                <a:latin typeface="휴먼엑스포"/>
                <a:ea typeface="휴먼엑스포"/>
              </a:rPr>
              <a:t> </a:t>
            </a:r>
            <a:r>
              <a:rPr lang="en-US" altLang="ko-KR" sz="1400" dirty="0">
                <a:latin typeface="휴먼엑스포"/>
                <a:ea typeface="휴먼엑스포"/>
              </a:rPr>
              <a:t>1,2</a:t>
            </a:r>
            <a:r>
              <a:rPr lang="ko-KR" altLang="en-US" sz="1400" dirty="0">
                <a:latin typeface="휴먼엑스포"/>
                <a:ea typeface="휴먼엑스포"/>
              </a:rPr>
              <a:t>의 행과 열의 값을 곱합니다</a:t>
            </a:r>
            <a:r>
              <a:rPr lang="en-US" altLang="ko-KR" sz="1400" dirty="0">
                <a:latin typeface="휴먼엑스포"/>
                <a:ea typeface="휴먼엑스포"/>
              </a:rPr>
              <a:t>.</a:t>
            </a:r>
          </a:p>
          <a:p>
            <a:pPr>
              <a:defRPr/>
            </a:pPr>
            <a:endParaRPr lang="ko-KR" altLang="en-US" sz="1600" dirty="0">
              <a:latin typeface="휴먼엑스포"/>
              <a:ea typeface="휴먼엑스포"/>
            </a:endParaRPr>
          </a:p>
          <a:p>
            <a:pPr>
              <a:defRPr/>
            </a:pPr>
            <a:endParaRPr lang="en-US" altLang="ko-KR" sz="1600" dirty="0">
              <a:latin typeface="휴먼엑스포"/>
              <a:ea typeface="휴먼엑스포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94555" y="6323852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4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403223" y="1114282"/>
            <a:ext cx="2650492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3"/>
              </a:buBlip>
              <a:defRPr/>
            </a:pPr>
            <a:r>
              <a:rPr lang="ko-KR" altLang="en-US" sz="4000">
                <a:effectLst/>
                <a:latin typeface="휴먼편지체"/>
                <a:ea typeface="휴먼편지체"/>
              </a:rPr>
              <a:t>이용방법</a:t>
            </a:r>
            <a:endParaRPr lang="ko-KR" altLang="en-US" sz="4000">
              <a:latin typeface="휴먼편지체"/>
              <a:ea typeface="휴먼편지체"/>
            </a:endParaRPr>
          </a:p>
        </p:txBody>
      </p:sp>
      <p:sp useBgFill="1">
        <p:nvSpPr>
          <p:cNvPr id="26" name="화살표: 위쪽 5"/>
          <p:cNvSpPr/>
          <p:nvPr/>
        </p:nvSpPr>
        <p:spPr>
          <a:xfrm>
            <a:off x="1121664" y="4078368"/>
            <a:ext cx="214779" cy="821765"/>
          </a:xfrm>
          <a:prstGeom prst="upArrow">
            <a:avLst>
              <a:gd name="adj1" fmla="val 50000"/>
              <a:gd name="adj2" fmla="val 50000"/>
            </a:avLst>
          </a:prstGeom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휴먼편지체"/>
              <a:ea typeface="휴먼편지체"/>
            </a:endParaRPr>
          </a:p>
        </p:txBody>
      </p:sp>
      <p:sp useBgFill="1">
        <p:nvSpPr>
          <p:cNvPr id="27" name="화살표: 위쪽 7"/>
          <p:cNvSpPr/>
          <p:nvPr/>
        </p:nvSpPr>
        <p:spPr>
          <a:xfrm>
            <a:off x="5325055" y="4067057"/>
            <a:ext cx="214779" cy="821765"/>
          </a:xfrm>
          <a:prstGeom prst="upArrow">
            <a:avLst>
              <a:gd name="adj1" fmla="val 50000"/>
              <a:gd name="adj2" fmla="val 50000"/>
            </a:avLst>
          </a:prstGeom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휴먼편지체"/>
              <a:ea typeface="휴먼편지체"/>
            </a:endParaRPr>
          </a:p>
        </p:txBody>
      </p:sp>
      <p:sp useBgFill="1">
        <p:nvSpPr>
          <p:cNvPr id="29" name="화살표: 위쪽 9"/>
          <p:cNvSpPr/>
          <p:nvPr/>
        </p:nvSpPr>
        <p:spPr>
          <a:xfrm>
            <a:off x="9413446" y="3929495"/>
            <a:ext cx="214779" cy="821765"/>
          </a:xfrm>
          <a:prstGeom prst="upArrow">
            <a:avLst>
              <a:gd name="adj1" fmla="val 50000"/>
              <a:gd name="adj2" fmla="val 50000"/>
            </a:avLst>
          </a:prstGeom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휴먼편지체"/>
              <a:ea typeface="휴먼편지체"/>
            </a:endParaRPr>
          </a:p>
        </p:txBody>
      </p:sp>
      <p:pic>
        <p:nvPicPr>
          <p:cNvPr id="15" name="그림 14">
            <a:hlinkClick r:id="rId4"/>
            <a:extLst>
              <a:ext uri="{FF2B5EF4-FFF2-40B4-BE49-F238E27FC236}">
                <a16:creationId xmlns:a16="http://schemas.microsoft.com/office/drawing/2014/main" id="{E0AA2688-6577-444F-8AFC-23530420077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3D60BBC-55BC-4BA6-A517-E09BB1956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9" y="1823936"/>
            <a:ext cx="11772427" cy="3613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4642" y="6074882"/>
            <a:ext cx="31831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latin typeface="휴먼엑스포"/>
                <a:ea typeface="휴먼엑스포"/>
              </a:rPr>
              <a:t>4.</a:t>
            </a:r>
            <a:r>
              <a:rPr lang="ko-KR" altLang="en-US" sz="1600">
                <a:latin typeface="휴먼엑스포"/>
                <a:ea typeface="휴먼엑스포"/>
              </a:rPr>
              <a:t> 행과 열의 값이 생성됩니다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  <a:endParaRPr lang="ko-KR" altLang="en-US" sz="1600">
              <a:latin typeface="휴먼엑스포"/>
              <a:ea typeface="휴먼엑스포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74419" y="6090027"/>
            <a:ext cx="30980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latin typeface="휴먼엑스포"/>
                <a:ea typeface="휴먼엑스포"/>
              </a:rPr>
              <a:t>5.</a:t>
            </a:r>
            <a:r>
              <a:rPr lang="ko-KR" altLang="en-US" sz="1600">
                <a:latin typeface="휴먼엑스포"/>
                <a:ea typeface="휴먼엑스포"/>
              </a:rPr>
              <a:t> 행과 열의 값이 생성됩니다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6506" y="5999237"/>
            <a:ext cx="26442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>
                <a:latin typeface="휴먼엑스포"/>
                <a:ea typeface="휴먼엑스포"/>
              </a:rPr>
              <a:t>6.</a:t>
            </a:r>
            <a:r>
              <a:rPr lang="ko-KR" altLang="en-US" sz="1600">
                <a:latin typeface="휴먼엑스포"/>
                <a:ea typeface="휴먼엑스포"/>
              </a:rPr>
              <a:t> 좌 우의 행과 열의 값의</a:t>
            </a:r>
          </a:p>
          <a:p>
            <a:pPr>
              <a:defRPr/>
            </a:pPr>
            <a:r>
              <a:rPr lang="en-US" altLang="ko-KR" sz="1600">
                <a:latin typeface="휴먼엑스포"/>
                <a:ea typeface="휴먼엑스포"/>
              </a:rPr>
              <a:t>   </a:t>
            </a:r>
            <a:r>
              <a:rPr lang="ko-KR" altLang="en-US" sz="1600">
                <a:latin typeface="휴먼엑스포"/>
                <a:ea typeface="휴먼엑스포"/>
              </a:rPr>
              <a:t>결과</a:t>
            </a:r>
            <a:r>
              <a:rPr lang="en-US" altLang="ko-KR" sz="1600">
                <a:latin typeface="휴먼엑스포"/>
                <a:ea typeface="휴먼엑스포"/>
              </a:rPr>
              <a:t> </a:t>
            </a:r>
            <a:r>
              <a:rPr lang="ko-KR" altLang="en-US" sz="1600">
                <a:latin typeface="휴먼엑스포"/>
                <a:ea typeface="휴먼엑스포"/>
              </a:rPr>
              <a:t>값을 도출합니다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94555" y="6323852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5</a:t>
            </a:r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285751" y="144906"/>
            <a:ext cx="11302999" cy="939784"/>
          </a:xfrm>
        </p:spPr>
        <p:txBody>
          <a:bodyPr/>
          <a:lstStyle/>
          <a:p>
            <a:pPr>
              <a:defRPr/>
            </a:pPr>
            <a:r>
              <a:rPr lang="ko-KR" altLang="en-US" sz="6000">
                <a:effectLst/>
                <a:latin typeface="휴먼편지체"/>
                <a:ea typeface="휴먼편지체"/>
              </a:rPr>
              <a:t>행렬 계산기 소개</a:t>
            </a:r>
            <a:endParaRPr lang="en-US" altLang="ko-KR" sz="6000">
              <a:effectLst/>
              <a:latin typeface="휴먼편지체"/>
              <a:ea typeface="휴먼편지체"/>
            </a:endParaRPr>
          </a:p>
        </p:txBody>
      </p:sp>
      <p:sp>
        <p:nvSpPr>
          <p:cNvPr id="16" name="TextBox 5"/>
          <p:cNvSpPr txBox="1"/>
          <p:nvPr/>
        </p:nvSpPr>
        <p:spPr>
          <a:xfrm>
            <a:off x="403223" y="1114282"/>
            <a:ext cx="2650492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3"/>
              </a:buBlip>
              <a:defRPr/>
            </a:pPr>
            <a:r>
              <a:rPr lang="ko-KR" altLang="en-US" sz="4000">
                <a:effectLst/>
                <a:latin typeface="휴먼편지체"/>
                <a:ea typeface="휴먼편지체"/>
              </a:rPr>
              <a:t>이용방법</a:t>
            </a:r>
            <a:endParaRPr lang="ko-KR" altLang="en-US" sz="4000">
              <a:latin typeface="휴먼편지체"/>
              <a:ea typeface="휴먼편지체"/>
            </a:endParaRPr>
          </a:p>
        </p:txBody>
      </p:sp>
      <p:sp useBgFill="1">
        <p:nvSpPr>
          <p:cNvPr id="27" name="화살표: 위쪽 16"/>
          <p:cNvSpPr/>
          <p:nvPr/>
        </p:nvSpPr>
        <p:spPr>
          <a:xfrm>
            <a:off x="1374115" y="5177472"/>
            <a:ext cx="214779" cy="821765"/>
          </a:xfrm>
          <a:prstGeom prst="upArrow">
            <a:avLst>
              <a:gd name="adj1" fmla="val 50000"/>
              <a:gd name="adj2" fmla="val 50000"/>
            </a:avLst>
          </a:prstGeom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휴먼편지체"/>
              <a:ea typeface="휴먼편지체"/>
            </a:endParaRPr>
          </a:p>
        </p:txBody>
      </p:sp>
      <p:sp useBgFill="1">
        <p:nvSpPr>
          <p:cNvPr id="28" name="화살표: 위쪽 18"/>
          <p:cNvSpPr/>
          <p:nvPr/>
        </p:nvSpPr>
        <p:spPr>
          <a:xfrm>
            <a:off x="5428735" y="5177472"/>
            <a:ext cx="214779" cy="821765"/>
          </a:xfrm>
          <a:prstGeom prst="upArrow">
            <a:avLst>
              <a:gd name="adj1" fmla="val 50000"/>
              <a:gd name="adj2" fmla="val 50000"/>
            </a:avLst>
          </a:prstGeom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휴먼편지체"/>
              <a:ea typeface="휴먼편지체"/>
            </a:endParaRPr>
          </a:p>
        </p:txBody>
      </p:sp>
      <p:sp useBgFill="1">
        <p:nvSpPr>
          <p:cNvPr id="29" name="화살표: 위쪽 19"/>
          <p:cNvSpPr/>
          <p:nvPr/>
        </p:nvSpPr>
        <p:spPr>
          <a:xfrm>
            <a:off x="9483355" y="5146642"/>
            <a:ext cx="214779" cy="747059"/>
          </a:xfrm>
          <a:prstGeom prst="upArrow">
            <a:avLst>
              <a:gd name="adj1" fmla="val 50000"/>
              <a:gd name="adj2" fmla="val 50000"/>
            </a:avLst>
          </a:prstGeom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휴먼편지체"/>
              <a:ea typeface="휴먼편지체"/>
            </a:endParaRPr>
          </a:p>
        </p:txBody>
      </p:sp>
      <p:pic>
        <p:nvPicPr>
          <p:cNvPr id="13" name="그림 12">
            <a:hlinkClick r:id="rId4"/>
            <a:extLst>
              <a:ext uri="{FF2B5EF4-FFF2-40B4-BE49-F238E27FC236}">
                <a16:creationId xmlns:a16="http://schemas.microsoft.com/office/drawing/2014/main" id="{C2896A72-9270-4040-A4B3-0139D98999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21425" y="5797496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effectLst/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sp>
        <p:nvSpPr>
          <p:cNvPr id="11" name="오른쪽 중괄호 10"/>
          <p:cNvSpPr/>
          <p:nvPr/>
        </p:nvSpPr>
        <p:spPr>
          <a:xfrm>
            <a:off x="9000238" y="2507173"/>
            <a:ext cx="403659" cy="714968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83910" y="2582810"/>
            <a:ext cx="27080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좌측 행과 열의 값을 </a:t>
            </a:r>
          </a:p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입력받기 위한 영역입니다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13" name="오른쪽 중괄호 12"/>
          <p:cNvSpPr/>
          <p:nvPr/>
        </p:nvSpPr>
        <p:spPr>
          <a:xfrm>
            <a:off x="9000239" y="3504416"/>
            <a:ext cx="403659" cy="752598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83910" y="3571091"/>
            <a:ext cx="27080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우측 행과 열의 값을 </a:t>
            </a:r>
          </a:p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입력받기 위한 영역입니다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15" name="오른쪽 중괄호 14"/>
          <p:cNvSpPr/>
          <p:nvPr/>
        </p:nvSpPr>
        <p:spPr>
          <a:xfrm>
            <a:off x="9000238" y="4460240"/>
            <a:ext cx="403659" cy="1796646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83910" y="5056525"/>
            <a:ext cx="27080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더하기</a:t>
            </a:r>
            <a:r>
              <a:rPr lang="en-US" altLang="ko-KR" sz="1600">
                <a:latin typeface="휴먼엑스포"/>
                <a:ea typeface="휴먼엑스포"/>
              </a:rPr>
              <a:t>,</a:t>
            </a:r>
            <a:r>
              <a:rPr lang="ko-KR" altLang="en-US" sz="1600">
                <a:latin typeface="휴먼엑스포"/>
                <a:ea typeface="휴먼엑스포"/>
              </a:rPr>
              <a:t> 빼기</a:t>
            </a:r>
            <a:r>
              <a:rPr lang="en-US" altLang="ko-KR" sz="1600">
                <a:latin typeface="휴먼엑스포"/>
                <a:ea typeface="휴먼엑스포"/>
              </a:rPr>
              <a:t>,</a:t>
            </a:r>
            <a:r>
              <a:rPr lang="ko-KR" altLang="en-US" sz="1600">
                <a:latin typeface="휴먼엑스포"/>
                <a:ea typeface="휴먼엑스포"/>
              </a:rPr>
              <a:t> 곱하기</a:t>
            </a:r>
            <a:r>
              <a:rPr lang="en-US" altLang="ko-KR" sz="1600">
                <a:latin typeface="휴먼엑스포"/>
                <a:ea typeface="휴먼엑스포"/>
              </a:rPr>
              <a:t>,</a:t>
            </a:r>
            <a:r>
              <a:rPr lang="ko-KR" altLang="en-US" sz="1600">
                <a:latin typeface="휴먼엑스포"/>
                <a:ea typeface="휴먼엑스포"/>
              </a:rPr>
              <a:t> 자동완성</a:t>
            </a:r>
            <a:r>
              <a:rPr lang="en-US" altLang="ko-KR" sz="1600">
                <a:latin typeface="휴먼엑스포"/>
                <a:ea typeface="휴먼엑스포"/>
              </a:rPr>
              <a:t>,</a:t>
            </a:r>
            <a:r>
              <a:rPr lang="ko-KR" altLang="en-US" sz="1600">
                <a:latin typeface="휴먼엑스포"/>
                <a:ea typeface="휴먼엑스포"/>
              </a:rPr>
              <a:t> 직접입력</a:t>
            </a:r>
            <a:r>
              <a:rPr lang="en-US" altLang="ko-KR" sz="1600">
                <a:latin typeface="휴먼엑스포"/>
                <a:ea typeface="휴먼엑스포"/>
              </a:rPr>
              <a:t>,</a:t>
            </a:r>
            <a:r>
              <a:rPr lang="ko-KR" altLang="en-US" sz="1600">
                <a:latin typeface="휴먼엑스포"/>
                <a:ea typeface="휴먼엑스포"/>
              </a:rPr>
              <a:t> 리셋 버튼 영역입니다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94555" y="6323852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6</a:t>
            </a:r>
          </a:p>
        </p:txBody>
      </p:sp>
      <p:sp>
        <p:nvSpPr>
          <p:cNvPr id="22" name="TextBox 5"/>
          <p:cNvSpPr txBox="1"/>
          <p:nvPr/>
        </p:nvSpPr>
        <p:spPr>
          <a:xfrm>
            <a:off x="403223" y="1114282"/>
            <a:ext cx="1964692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Html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0568" y="1820834"/>
            <a:ext cx="8799669" cy="4645955"/>
          </a:xfrm>
          <a:prstGeom prst="rect">
            <a:avLst/>
          </a:prstGeom>
        </p:spPr>
      </p:pic>
      <p:pic>
        <p:nvPicPr>
          <p:cNvPr id="18" name="그림 17">
            <a:hlinkClick r:id="rId4"/>
            <a:extLst>
              <a:ext uri="{FF2B5EF4-FFF2-40B4-BE49-F238E27FC236}">
                <a16:creationId xmlns:a16="http://schemas.microsoft.com/office/drawing/2014/main" id="{567E240B-7041-401E-9C7B-AD0EEBC943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pic>
        <p:nvPicPr>
          <p:cNvPr id="15" name="내용 개체 틀 1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31796" y="1902757"/>
            <a:ext cx="8346032" cy="4421094"/>
          </a:xfrm>
          <a:prstGeom prst="rect">
            <a:avLst/>
          </a:prstGeom>
        </p:spPr>
      </p:pic>
      <p:sp>
        <p:nvSpPr>
          <p:cNvPr id="6" name="오른쪽 중괄호 5"/>
          <p:cNvSpPr/>
          <p:nvPr/>
        </p:nvSpPr>
        <p:spPr>
          <a:xfrm>
            <a:off x="8777828" y="2327979"/>
            <a:ext cx="435969" cy="1267162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13796" y="2673550"/>
            <a:ext cx="2978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좌우의 입력된 행렬의 값이 </a:t>
            </a:r>
          </a:p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그려지는 영역입니다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8" name="오른쪽 중괄호 7"/>
          <p:cNvSpPr/>
          <p:nvPr/>
        </p:nvSpPr>
        <p:spPr>
          <a:xfrm>
            <a:off x="8777827" y="4372666"/>
            <a:ext cx="435969" cy="73772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13797" y="4455757"/>
            <a:ext cx="29782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좌우의 입력된 행렬의 값을 </a:t>
            </a:r>
          </a:p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연산 후 그려지는 영역입니다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11" name="오른쪽 중괄호 10"/>
          <p:cNvSpPr/>
          <p:nvPr/>
        </p:nvSpPr>
        <p:spPr>
          <a:xfrm>
            <a:off x="8777828" y="5401385"/>
            <a:ext cx="435969" cy="73772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13796" y="5601792"/>
            <a:ext cx="2978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경고 문구를 출력하는 </a:t>
            </a:r>
          </a:p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영역입니다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94555" y="6323852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7</a:t>
            </a:r>
          </a:p>
        </p:txBody>
      </p:sp>
      <p:sp>
        <p:nvSpPr>
          <p:cNvPr id="17" name="TextBox 5"/>
          <p:cNvSpPr txBox="1"/>
          <p:nvPr/>
        </p:nvSpPr>
        <p:spPr>
          <a:xfrm>
            <a:off x="403223" y="1047607"/>
            <a:ext cx="1964692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3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Html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14" name="그림 13">
            <a:hlinkClick r:id="rId4"/>
            <a:extLst>
              <a:ext uri="{FF2B5EF4-FFF2-40B4-BE49-F238E27FC236}">
                <a16:creationId xmlns:a16="http://schemas.microsoft.com/office/drawing/2014/main" id="{E73E2CAE-E7FD-460B-BC79-04158190D5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sp>
        <p:nvSpPr>
          <p:cNvPr id="4" name="오른쪽 중괄호 3"/>
          <p:cNvSpPr/>
          <p:nvPr/>
        </p:nvSpPr>
        <p:spPr>
          <a:xfrm>
            <a:off x="9046710" y="2193037"/>
            <a:ext cx="537927" cy="3912137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84637" y="3811101"/>
            <a:ext cx="26073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직접입력 버튼 클릭</a:t>
            </a:r>
            <a:r>
              <a:rPr lang="en-US" altLang="ko-KR" sz="1600">
                <a:latin typeface="휴먼엑스포"/>
                <a:ea typeface="휴먼엑스포"/>
              </a:rPr>
              <a:t> </a:t>
            </a:r>
            <a:r>
              <a:rPr lang="ko-KR" altLang="en-US" sz="1600">
                <a:latin typeface="휴먼엑스포"/>
                <a:ea typeface="휴먼엑스포"/>
              </a:rPr>
              <a:t>시</a:t>
            </a:r>
            <a:r>
              <a:rPr lang="en-US" altLang="ko-KR" sz="1600">
                <a:latin typeface="휴먼엑스포"/>
                <a:ea typeface="휴먼엑스포"/>
              </a:rPr>
              <a:t> </a:t>
            </a:r>
          </a:p>
          <a:p>
            <a:pPr>
              <a:defRPr/>
            </a:pPr>
            <a:r>
              <a:rPr lang="ko-KR" altLang="en-US" sz="1600">
                <a:latin typeface="휴먼엑스포"/>
                <a:ea typeface="휴먼엑스포"/>
              </a:rPr>
              <a:t>그려지는 행렬의 메소드입니다</a:t>
            </a:r>
            <a:r>
              <a:rPr lang="en-US" altLang="ko-KR" sz="16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94555" y="6323852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8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403222" y="1047607"/>
            <a:ext cx="2193293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Script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9" name="그림 8">
            <a:hlinkClick r:id="rId3"/>
            <a:extLst>
              <a:ext uri="{FF2B5EF4-FFF2-40B4-BE49-F238E27FC236}">
                <a16:creationId xmlns:a16="http://schemas.microsoft.com/office/drawing/2014/main" id="{FB6499F5-FCD6-415E-8E0C-FD7A5561BB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8EA9CE91-B882-4ADF-ACBE-120848ED2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" y="1987391"/>
            <a:ext cx="9111111" cy="4364004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/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6000" b="0" i="0" u="none" strike="noStrike" kern="1200" cap="none" spc="0" normalizeH="0" baseline="0">
                <a:solidFill>
                  <a:schemeClr val="accent6"/>
                </a:solidFill>
                <a:latin typeface="휴먼편지체"/>
                <a:ea typeface="휴먼편지체"/>
              </a:rPr>
              <a:t>코딩</a:t>
            </a:r>
            <a:endParaRPr kumimoji="0" lang="en-US" altLang="ko-KR" sz="6000" b="0" i="0" u="none" strike="noStrike" kern="1200" cap="none" spc="0" normalizeH="0" baseline="0">
              <a:solidFill>
                <a:schemeClr val="accent6"/>
              </a:solidFill>
              <a:latin typeface="휴먼편지체"/>
              <a:ea typeface="휴먼편지체"/>
            </a:endParaRPr>
          </a:p>
        </p:txBody>
      </p:sp>
      <p:sp>
        <p:nvSpPr>
          <p:cNvPr id="5" name="오른쪽 중괄호 3"/>
          <p:cNvSpPr/>
          <p:nvPr/>
        </p:nvSpPr>
        <p:spPr>
          <a:xfrm>
            <a:off x="9046711" y="2414030"/>
            <a:ext cx="537927" cy="3455731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9584637" y="3853302"/>
            <a:ext cx="26073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dirty="0">
                <a:latin typeface="휴먼엑스포"/>
                <a:ea typeface="휴먼엑스포"/>
              </a:rPr>
              <a:t>자동완성 버튼 클릭 시 그려지는 배열 메소드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11694555" y="6323852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9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403222" y="1047607"/>
            <a:ext cx="2193293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Script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10" name="그림 9">
            <a:hlinkClick r:id="rId3"/>
            <a:extLst>
              <a:ext uri="{FF2B5EF4-FFF2-40B4-BE49-F238E27FC236}">
                <a16:creationId xmlns:a16="http://schemas.microsoft.com/office/drawing/2014/main" id="{D60049A5-2986-4025-B2A7-7C682715C3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F2618216-F436-4F87-B88A-9AF34F407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5" y="1697878"/>
            <a:ext cx="9055100" cy="4995306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sp>
        <p:nvSpPr>
          <p:cNvPr id="5" name="오른쪽 중괄호 4"/>
          <p:cNvSpPr/>
          <p:nvPr/>
        </p:nvSpPr>
        <p:spPr>
          <a:xfrm>
            <a:off x="9622609" y="2342262"/>
            <a:ext cx="432328" cy="3733543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64363" y="3836685"/>
            <a:ext cx="21242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두개의 </a:t>
            </a:r>
            <a:r>
              <a:rPr lang="ko-KR" altLang="en-US" sz="1400" dirty="0" err="1">
                <a:latin typeface="휴먼엑스포"/>
                <a:ea typeface="휴먼엑스포"/>
              </a:rPr>
              <a:t>배열값을</a:t>
            </a:r>
            <a:r>
              <a:rPr lang="ko-KR" altLang="en-US" sz="1400" dirty="0">
                <a:latin typeface="휴먼엑스포"/>
                <a:ea typeface="휴먼엑스포"/>
              </a:rPr>
              <a:t> 더한</a:t>
            </a:r>
            <a:br>
              <a:rPr lang="en-US" altLang="ko-KR" sz="1400" dirty="0">
                <a:latin typeface="휴먼엑스포"/>
                <a:ea typeface="휴먼엑스포"/>
              </a:rPr>
            </a:br>
            <a:r>
              <a:rPr lang="ko-KR" altLang="en-US" sz="1400" dirty="0">
                <a:latin typeface="휴먼엑스포"/>
                <a:ea typeface="휴먼엑스포"/>
              </a:rPr>
              <a:t>결과를 보여주는 메소드</a:t>
            </a:r>
            <a:endParaRPr lang="en-US" altLang="ko-KR" sz="1400" dirty="0">
              <a:latin typeface="휴먼엑스포"/>
              <a:ea typeface="휴먼엑스포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10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384172" y="1009507"/>
            <a:ext cx="2193293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Script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9" name="그림 8">
            <a:hlinkClick r:id="rId3"/>
            <a:extLst>
              <a:ext uri="{FF2B5EF4-FFF2-40B4-BE49-F238E27FC236}">
                <a16:creationId xmlns:a16="http://schemas.microsoft.com/office/drawing/2014/main" id="{740E3F83-18FD-4429-AD2A-220957D0E2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F9DF5933-A1DF-42B6-9A06-5FDDBCD27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5" y="1563850"/>
            <a:ext cx="9655175" cy="497982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sp>
        <p:nvSpPr>
          <p:cNvPr id="5" name="오른쪽 중괄호 4"/>
          <p:cNvSpPr/>
          <p:nvPr/>
        </p:nvSpPr>
        <p:spPr>
          <a:xfrm>
            <a:off x="9603754" y="2345738"/>
            <a:ext cx="537927" cy="3654168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79403" y="3826393"/>
            <a:ext cx="21242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두개의 </a:t>
            </a:r>
            <a:r>
              <a:rPr lang="ko-KR" altLang="en-US" sz="1400" dirty="0" err="1">
                <a:latin typeface="휴먼엑스포"/>
                <a:ea typeface="휴먼엑스포"/>
              </a:rPr>
              <a:t>배열값을</a:t>
            </a:r>
            <a:r>
              <a:rPr lang="ko-KR" altLang="en-US" sz="1400" dirty="0">
                <a:latin typeface="휴먼엑스포"/>
                <a:ea typeface="휴먼엑스포"/>
              </a:rPr>
              <a:t> 뺀</a:t>
            </a:r>
            <a:br>
              <a:rPr lang="en-US" altLang="ko-KR" sz="1400" dirty="0">
                <a:latin typeface="휴먼엑스포"/>
                <a:ea typeface="휴먼엑스포"/>
              </a:rPr>
            </a:br>
            <a:r>
              <a:rPr lang="ko-KR" altLang="en-US" sz="1400" dirty="0">
                <a:latin typeface="휴먼엑스포"/>
                <a:ea typeface="휴먼엑스포"/>
              </a:rPr>
              <a:t>결과를 보여주는 메소드</a:t>
            </a:r>
            <a:endParaRPr lang="en-US" altLang="ko-KR" sz="1400" dirty="0">
              <a:latin typeface="휴먼엑스포"/>
              <a:ea typeface="휴먼엑스포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11</a:t>
            </a:r>
          </a:p>
        </p:txBody>
      </p:sp>
      <p:sp>
        <p:nvSpPr>
          <p:cNvPr id="14" name="TextBox 5"/>
          <p:cNvSpPr txBox="1"/>
          <p:nvPr/>
        </p:nvSpPr>
        <p:spPr>
          <a:xfrm>
            <a:off x="384172" y="1028557"/>
            <a:ext cx="2193293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Script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9" name="그림 8">
            <a:hlinkClick r:id="rId3"/>
            <a:extLst>
              <a:ext uri="{FF2B5EF4-FFF2-40B4-BE49-F238E27FC236}">
                <a16:creationId xmlns:a16="http://schemas.microsoft.com/office/drawing/2014/main" id="{B889AAB1-EFCC-474B-A641-B3C77AB20F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CE13D0EC-380F-42F3-B227-EF6580EB7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700892"/>
            <a:ext cx="9540875" cy="4890407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sp>
        <p:nvSpPr>
          <p:cNvPr id="4" name="오른쪽 중괄호 3"/>
          <p:cNvSpPr/>
          <p:nvPr/>
        </p:nvSpPr>
        <p:spPr>
          <a:xfrm>
            <a:off x="9559681" y="2722441"/>
            <a:ext cx="412998" cy="3005129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36987" y="237844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ko-KR" altLang="en-US">
              <a:latin typeface="휴먼편지체"/>
              <a:ea typeface="휴먼편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50691" y="3852914"/>
            <a:ext cx="23320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배열의 입력 없이 버튼 </a:t>
            </a:r>
            <a:r>
              <a:rPr lang="ko-KR" altLang="en-US" sz="1400" dirty="0" err="1">
                <a:latin typeface="휴먼엑스포"/>
                <a:ea typeface="휴먼엑스포"/>
              </a:rPr>
              <a:t>클릭시</a:t>
            </a:r>
            <a:r>
              <a:rPr lang="ko-KR" altLang="en-US" sz="1400" dirty="0">
                <a:latin typeface="휴먼엑스포"/>
                <a:ea typeface="휴먼엑스포"/>
              </a:rPr>
              <a:t> </a:t>
            </a:r>
            <a:r>
              <a:rPr lang="ko-KR" altLang="en-US" sz="1400" dirty="0" err="1">
                <a:latin typeface="휴먼엑스포"/>
                <a:ea typeface="휴먼엑스포"/>
              </a:rPr>
              <a:t>알럿</a:t>
            </a:r>
            <a:r>
              <a:rPr lang="ko-KR" altLang="en-US" sz="1400" dirty="0">
                <a:latin typeface="휴먼엑스포"/>
                <a:ea typeface="휴먼엑스포"/>
              </a:rPr>
              <a:t> 띄우는 메소드</a:t>
            </a:r>
            <a:endParaRPr lang="en-US" altLang="ko-KR" sz="1400" dirty="0">
              <a:latin typeface="휴먼엑스포"/>
              <a:ea typeface="휴먼엑스포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12</a:t>
            </a:r>
          </a:p>
        </p:txBody>
      </p:sp>
      <p:sp>
        <p:nvSpPr>
          <p:cNvPr id="14" name="TextBox 5"/>
          <p:cNvSpPr txBox="1"/>
          <p:nvPr/>
        </p:nvSpPr>
        <p:spPr>
          <a:xfrm>
            <a:off x="374647" y="1038082"/>
            <a:ext cx="2193293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Script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10" name="그림 9">
            <a:hlinkClick r:id="rId3"/>
            <a:extLst>
              <a:ext uri="{FF2B5EF4-FFF2-40B4-BE49-F238E27FC236}">
                <a16:creationId xmlns:a16="http://schemas.microsoft.com/office/drawing/2014/main" id="{C7F77701-99C3-4013-B902-5EF46C5346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6A7B41F8-9490-49CD-B3FD-F3A511E11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2" y="1650136"/>
            <a:ext cx="9520733" cy="5084061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sp>
        <p:nvSpPr>
          <p:cNvPr id="4" name="오른쪽 중괄호 3"/>
          <p:cNvSpPr/>
          <p:nvPr/>
        </p:nvSpPr>
        <p:spPr>
          <a:xfrm>
            <a:off x="9597389" y="2378447"/>
            <a:ext cx="412998" cy="3586256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36987" y="237844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ko-KR" altLang="en-US">
              <a:latin typeface="휴먼편지체"/>
              <a:ea typeface="휴먼편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3252" y="3787701"/>
            <a:ext cx="233209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atin typeface="휴먼엑스포"/>
                <a:ea typeface="휴먼엑스포"/>
              </a:rPr>
              <a:t>좌우의 배열 숫자를 </a:t>
            </a:r>
            <a:r>
              <a:rPr lang="en-US" altLang="ko-KR" sz="1400" dirty="0">
                <a:latin typeface="휴먼엑스포"/>
                <a:ea typeface="휴먼엑스포"/>
              </a:rPr>
              <a:t>9</a:t>
            </a:r>
            <a:r>
              <a:rPr lang="ko-KR" altLang="en-US" sz="1400" dirty="0">
                <a:latin typeface="휴먼엑스포"/>
                <a:ea typeface="휴먼엑스포"/>
              </a:rPr>
              <a:t>이상 </a:t>
            </a:r>
            <a:r>
              <a:rPr lang="ko-KR" altLang="en-US" sz="1400" dirty="0" err="1">
                <a:latin typeface="휴먼엑스포"/>
                <a:ea typeface="휴먼엑스포"/>
              </a:rPr>
              <a:t>입력시</a:t>
            </a:r>
            <a:r>
              <a:rPr lang="ko-KR" altLang="en-US" sz="1400" dirty="0">
                <a:latin typeface="휴먼엑스포"/>
                <a:ea typeface="휴먼엑스포"/>
              </a:rPr>
              <a:t> </a:t>
            </a:r>
            <a:r>
              <a:rPr lang="ko-KR" altLang="en-US" sz="1400" dirty="0" err="1">
                <a:latin typeface="휴먼엑스포"/>
                <a:ea typeface="휴먼엑스포"/>
              </a:rPr>
              <a:t>알럿을</a:t>
            </a:r>
            <a:r>
              <a:rPr lang="ko-KR" altLang="en-US" sz="1400" dirty="0">
                <a:latin typeface="휴먼엑스포"/>
                <a:ea typeface="휴먼엑스포"/>
              </a:rPr>
              <a:t> 띄우는 메소드</a:t>
            </a:r>
            <a:endParaRPr lang="en-US" altLang="ko-KR" sz="1400" dirty="0">
              <a:latin typeface="휴먼엑스포"/>
              <a:ea typeface="휴먼엑스포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13</a:t>
            </a:r>
          </a:p>
        </p:txBody>
      </p:sp>
      <p:sp>
        <p:nvSpPr>
          <p:cNvPr id="15" name="TextBox 5"/>
          <p:cNvSpPr txBox="1"/>
          <p:nvPr/>
        </p:nvSpPr>
        <p:spPr>
          <a:xfrm>
            <a:off x="384172" y="1038082"/>
            <a:ext cx="2193293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Script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10" name="그림 9">
            <a:hlinkClick r:id="rId3"/>
            <a:extLst>
              <a:ext uri="{FF2B5EF4-FFF2-40B4-BE49-F238E27FC236}">
                <a16:creationId xmlns:a16="http://schemas.microsoft.com/office/drawing/2014/main" id="{F79C4030-63E9-46A1-B238-1E2CF2424B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25AD868D-5998-48A9-A9E9-4569310FD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95" y="1721870"/>
            <a:ext cx="9377970" cy="5012328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</a:p>
        </p:txBody>
      </p:sp>
      <p:sp>
        <p:nvSpPr>
          <p:cNvPr id="4" name="오른쪽 중괄호 3"/>
          <p:cNvSpPr/>
          <p:nvPr/>
        </p:nvSpPr>
        <p:spPr>
          <a:xfrm>
            <a:off x="8987118" y="1976904"/>
            <a:ext cx="433913" cy="4342279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  <a:latin typeface="휴먼편지체"/>
              <a:ea typeface="휴먼편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53008" y="3765415"/>
            <a:ext cx="277097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휴먼엑스포"/>
                <a:ea typeface="휴먼엑스포"/>
              </a:rPr>
              <a:t>곱하기 버튼 클릭</a:t>
            </a:r>
            <a:r>
              <a:rPr lang="en-US" altLang="ko-KR" sz="1400">
                <a:latin typeface="휴먼엑스포"/>
                <a:ea typeface="휴먼엑스포"/>
              </a:rPr>
              <a:t> </a:t>
            </a:r>
            <a:r>
              <a:rPr lang="ko-KR" altLang="en-US" sz="1400">
                <a:latin typeface="휴먼엑스포"/>
                <a:ea typeface="휴먼엑스포"/>
              </a:rPr>
              <a:t>시 </a:t>
            </a:r>
          </a:p>
          <a:p>
            <a:pPr>
              <a:defRPr/>
            </a:pPr>
            <a:r>
              <a:rPr lang="ko-KR" altLang="en-US" sz="1400">
                <a:latin typeface="휴먼엑스포"/>
                <a:ea typeface="휴먼엑스포"/>
              </a:rPr>
              <a:t>입력된 좌우 행렬의 값을 </a:t>
            </a:r>
          </a:p>
          <a:p>
            <a:pPr>
              <a:defRPr/>
            </a:pPr>
            <a:r>
              <a:rPr lang="ko-KR" altLang="en-US" sz="1400">
                <a:latin typeface="휴먼엑스포"/>
                <a:ea typeface="휴먼엑스포"/>
              </a:rPr>
              <a:t>빼기 연산하는 영역입니다</a:t>
            </a:r>
            <a:r>
              <a:rPr lang="en-US" altLang="ko-KR" sz="1400">
                <a:latin typeface="휴먼엑스포"/>
                <a:ea typeface="휴먼엑스포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14</a:t>
            </a:r>
          </a:p>
        </p:txBody>
      </p:sp>
      <p:sp>
        <p:nvSpPr>
          <p:cNvPr id="10" name="TextBox 5"/>
          <p:cNvSpPr txBox="1"/>
          <p:nvPr/>
        </p:nvSpPr>
        <p:spPr>
          <a:xfrm>
            <a:off x="412747" y="952357"/>
            <a:ext cx="2193293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effectLst/>
                <a:latin typeface="휴먼편지체"/>
                <a:ea typeface="휴먼편지체"/>
              </a:rPr>
              <a:t>Script</a:t>
            </a:r>
            <a:endParaRPr lang="en-US" altLang="ko-KR" sz="4000">
              <a:latin typeface="휴먼편지체"/>
              <a:ea typeface="휴먼편지체"/>
            </a:endParaRPr>
          </a:p>
        </p:txBody>
      </p:sp>
      <p:pic>
        <p:nvPicPr>
          <p:cNvPr id="9" name="그림 8">
            <a:hlinkClick r:id="rId3"/>
            <a:extLst>
              <a:ext uri="{FF2B5EF4-FFF2-40B4-BE49-F238E27FC236}">
                <a16:creationId xmlns:a16="http://schemas.microsoft.com/office/drawing/2014/main" id="{2875CD39-DF6D-44FB-ABC7-12200DB72B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973A953C-4963-406C-80F1-0460DB491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610859"/>
            <a:ext cx="8864600" cy="498996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31795" y="1914828"/>
            <a:ext cx="7859222" cy="44090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6251" y="269594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en-US" altLang="ko-KR">
              <a:latin typeface="휴먼편지체"/>
              <a:ea typeface="휴먼편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0718" y="3834378"/>
            <a:ext cx="349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>
                <a:latin typeface="휴먼엑스포"/>
                <a:ea typeface="휴먼엑스포"/>
              </a:rPr>
              <a:t>Sass</a:t>
            </a:r>
            <a:r>
              <a:rPr lang="ko-KR" altLang="en-US" sz="1400">
                <a:latin typeface="휴먼엑스포"/>
                <a:ea typeface="휴먼엑스포"/>
              </a:rPr>
              <a:t>를 이용하여</a:t>
            </a:r>
            <a:r>
              <a:rPr lang="en-US" altLang="ko-KR" sz="1400">
                <a:latin typeface="휴먼엑스포"/>
                <a:ea typeface="휴먼엑스포"/>
              </a:rPr>
              <a:t> </a:t>
            </a:r>
            <a:r>
              <a:rPr lang="ko-KR" altLang="en-US" sz="1400">
                <a:latin typeface="휴먼엑스포"/>
                <a:ea typeface="휴먼엑스포"/>
              </a:rPr>
              <a:t>빠르고 간단하게 작성</a:t>
            </a:r>
          </a:p>
          <a:p>
            <a:pPr>
              <a:defRPr/>
            </a:pPr>
            <a:r>
              <a:rPr lang="ko-KR" altLang="en-US" sz="1400">
                <a:latin typeface="휴먼엑스포"/>
                <a:ea typeface="휴먼엑스포"/>
              </a:rPr>
              <a:t>전체</a:t>
            </a:r>
            <a:r>
              <a:rPr lang="en-US" altLang="ko-KR" sz="1400">
                <a:latin typeface="휴먼엑스포"/>
                <a:ea typeface="휴먼엑스포"/>
              </a:rPr>
              <a:t> </a:t>
            </a:r>
            <a:r>
              <a:rPr lang="ko-KR" altLang="en-US" sz="1400">
                <a:latin typeface="휴먼엑스포"/>
                <a:ea typeface="휴먼엑스포"/>
              </a:rPr>
              <a:t>화면 크기 및 백그라운드 색상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15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374646" y="1019032"/>
            <a:ext cx="2936244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3"/>
              </a:buBlip>
              <a:defRPr/>
            </a:pPr>
            <a:r>
              <a:rPr lang="en-US" altLang="ko-KR" sz="4000">
                <a:latin typeface="휴먼편지체"/>
                <a:ea typeface="휴먼편지체"/>
              </a:rPr>
              <a:t>Css(Sass)</a:t>
            </a:r>
          </a:p>
        </p:txBody>
      </p:sp>
      <p:pic>
        <p:nvPicPr>
          <p:cNvPr id="10" name="그림 9">
            <a:hlinkClick r:id="rId4"/>
            <a:extLst>
              <a:ext uri="{FF2B5EF4-FFF2-40B4-BE49-F238E27FC236}">
                <a16:creationId xmlns:a16="http://schemas.microsoft.com/office/drawing/2014/main" id="{B7D8F572-E9E4-4B12-91A4-2AB131A4CB4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pic>
        <p:nvPicPr>
          <p:cNvPr id="11" name="내용 개체 틀 10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280967" y="1753279"/>
            <a:ext cx="4141182" cy="4752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6251" y="269594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en-US" altLang="ko-KR">
              <a:latin typeface="휴먼편지체"/>
              <a:ea typeface="휴먼편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66598" y="3844606"/>
            <a:ext cx="34740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>
                <a:latin typeface="휴먼엑스포"/>
                <a:ea typeface="휴먼엑스포"/>
              </a:rPr>
              <a:t>Mixin</a:t>
            </a:r>
            <a:r>
              <a:rPr lang="ko-KR" altLang="en-US" sz="1400">
                <a:latin typeface="휴먼엑스포"/>
                <a:ea typeface="휴먼엑스포"/>
              </a:rPr>
              <a:t>를 이용하여</a:t>
            </a:r>
            <a:r>
              <a:rPr lang="en-US" altLang="ko-KR" sz="1400">
                <a:latin typeface="휴먼엑스포"/>
                <a:ea typeface="휴먼엑스포"/>
              </a:rPr>
              <a:t> </a:t>
            </a:r>
            <a:r>
              <a:rPr lang="ko-KR" altLang="en-US" sz="1400">
                <a:latin typeface="휴먼엑스포"/>
                <a:ea typeface="휴먼엑스포"/>
              </a:rPr>
              <a:t>빠르고 간단하게 작성</a:t>
            </a:r>
          </a:p>
          <a:p>
            <a:pPr>
              <a:defRPr/>
            </a:pPr>
            <a:r>
              <a:rPr lang="ko-KR" altLang="en-US" sz="1400">
                <a:latin typeface="휴먼엑스포"/>
                <a:ea typeface="휴먼엑스포"/>
              </a:rPr>
              <a:t>컨텐츠의 크기 폰트 크기 등을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16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87061" y="1753279"/>
            <a:ext cx="4141183" cy="4752580"/>
          </a:xfrm>
          <a:prstGeom prst="rect">
            <a:avLst/>
          </a:prstGeom>
        </p:spPr>
      </p:pic>
      <p:sp>
        <p:nvSpPr>
          <p:cNvPr id="14" name="TextBox 5"/>
          <p:cNvSpPr txBox="1"/>
          <p:nvPr/>
        </p:nvSpPr>
        <p:spPr>
          <a:xfrm>
            <a:off x="279396" y="914257"/>
            <a:ext cx="2936244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4"/>
              </a:buBlip>
              <a:defRPr/>
            </a:pPr>
            <a:r>
              <a:rPr lang="en-US" altLang="ko-KR" sz="4000">
                <a:latin typeface="휴먼편지체"/>
                <a:ea typeface="휴먼편지체"/>
              </a:rPr>
              <a:t>Css(Sass)</a:t>
            </a:r>
          </a:p>
        </p:txBody>
      </p:sp>
      <p:pic>
        <p:nvPicPr>
          <p:cNvPr id="10" name="그림 9">
            <a:hlinkClick r:id="rId5"/>
            <a:extLst>
              <a:ext uri="{FF2B5EF4-FFF2-40B4-BE49-F238E27FC236}">
                <a16:creationId xmlns:a16="http://schemas.microsoft.com/office/drawing/2014/main" id="{0F1694A7-9912-4C64-A6BE-757840684BF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코딩</a:t>
            </a:r>
            <a:endParaRPr lang="en-US" altLang="ko-KR" sz="6000">
              <a:latin typeface="휴먼편지체"/>
              <a:ea typeface="휴먼편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76251" y="269594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en-US" altLang="ko-KR">
              <a:latin typeface="휴먼편지체"/>
              <a:ea typeface="휴먼편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85538" y="4056150"/>
            <a:ext cx="2986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>
                <a:latin typeface="휴먼엑스포"/>
                <a:ea typeface="휴먼엑스포"/>
              </a:rPr>
              <a:t>헤더 폰트의 색상 컬러 그라데이션</a:t>
            </a:r>
          </a:p>
          <a:p>
            <a:pPr>
              <a:defRPr/>
            </a:pPr>
            <a:r>
              <a:rPr lang="ko-KR" altLang="en-US" sz="1400">
                <a:latin typeface="휴먼엑스포"/>
                <a:ea typeface="휴먼엑스포"/>
              </a:rPr>
              <a:t>애니메이션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17</a:t>
            </a:r>
          </a:p>
        </p:txBody>
      </p:sp>
      <p:sp>
        <p:nvSpPr>
          <p:cNvPr id="15" name="TextBox 5"/>
          <p:cNvSpPr txBox="1"/>
          <p:nvPr/>
        </p:nvSpPr>
        <p:spPr>
          <a:xfrm>
            <a:off x="355596" y="942832"/>
            <a:ext cx="2936244" cy="6935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0000" indent="-740000">
              <a:buBlip>
                <a:blip r:embed="rId2"/>
              </a:buBlip>
              <a:defRPr/>
            </a:pPr>
            <a:r>
              <a:rPr lang="en-US" altLang="ko-KR" sz="4000">
                <a:latin typeface="휴먼편지체"/>
                <a:ea typeface="휴먼편지체"/>
              </a:rPr>
              <a:t>Css(Sass)</a:t>
            </a:r>
          </a:p>
        </p:txBody>
      </p:sp>
      <p:pic>
        <p:nvPicPr>
          <p:cNvPr id="9" name="그림 8">
            <a:hlinkClick r:id="rId3"/>
            <a:extLst>
              <a:ext uri="{FF2B5EF4-FFF2-40B4-BE49-F238E27FC236}">
                <a16:creationId xmlns:a16="http://schemas.microsoft.com/office/drawing/2014/main" id="{26D0C8D1-5323-4D86-AF1E-15371D800C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3C4240E-CEE4-4EC8-8916-0A205F70C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03" y="1597512"/>
            <a:ext cx="8724098" cy="4917587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6000">
                <a:latin typeface="휴먼편지체"/>
                <a:ea typeface="휴먼편지체"/>
              </a:rPr>
              <a:t>후기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31799" y="1308100"/>
            <a:ext cx="11302999" cy="5139833"/>
          </a:xfrm>
        </p:spPr>
        <p:txBody>
          <a:bodyPr vert="horz" wrap="square" lIns="91440" tIns="108000" rIns="91440" bIns="108000" anchor="t"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720"/>
              </a:spcBef>
              <a:buNone/>
              <a:defRPr/>
            </a:pPr>
            <a:r>
              <a:rPr lang="en-US" altLang="ko-KR" sz="2800">
                <a:solidFill>
                  <a:schemeClr val="bg2">
                    <a:lumMod val="25000"/>
                  </a:schemeClr>
                </a:solidFill>
                <a:latin typeface="휴먼엑스포"/>
                <a:ea typeface="휴먼엑스포"/>
              </a:rPr>
              <a:t>프로젝트를 처음 접하면서 어떤 식으로 UX/UI를 구성해야 하는지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2800">
                <a:solidFill>
                  <a:schemeClr val="bg2">
                    <a:lumMod val="25000"/>
                  </a:schemeClr>
                </a:solidFill>
                <a:latin typeface="휴먼엑스포"/>
                <a:ea typeface="휴먼엑스포"/>
              </a:rPr>
              <a:t>어떤 식으로 로직을 구성해야 하는지 감이 오지 않아 힘들었고 UX/UI를 먼저 구성을 하고</a:t>
            </a:r>
            <a:r>
              <a:rPr lang="ko-KR" altLang="en-US" sz="2800">
                <a:solidFill>
                  <a:schemeClr val="bg2">
                    <a:lumMod val="25000"/>
                  </a:schemeClr>
                </a:solidFill>
                <a:latin typeface="휴먼엑스포"/>
                <a:ea typeface="휴먼엑스포"/>
              </a:rPr>
              <a:t> </a:t>
            </a:r>
            <a:r>
              <a:rPr lang="en-US" altLang="ko-KR" sz="2800">
                <a:solidFill>
                  <a:schemeClr val="bg2">
                    <a:lumMod val="25000"/>
                  </a:schemeClr>
                </a:solidFill>
                <a:latin typeface="휴먼엑스포"/>
                <a:ea typeface="휴먼엑스포"/>
              </a:rPr>
              <a:t>많은 고민과 수정 등을 거쳐 부족하지만 완성을 하였다.</a:t>
            </a: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ko-KR" sz="2800">
              <a:solidFill>
                <a:schemeClr val="bg2">
                  <a:lumMod val="25000"/>
                </a:schemeClr>
              </a:solidFill>
              <a:latin typeface="휴먼엑스포"/>
              <a:ea typeface="휴먼엑스포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2800">
                <a:solidFill>
                  <a:schemeClr val="bg2">
                    <a:lumMod val="25000"/>
                  </a:schemeClr>
                </a:solidFill>
                <a:latin typeface="휴먼엑스포"/>
                <a:ea typeface="휴먼엑스포"/>
              </a:rPr>
              <a:t>프로젝트를 진행하면서 다양한 방법의 로직을 생각해 보는 계기가 되었고 많이 미숙하지만 객체, 함수, 반복문 등의 사용에 대해 이해하는 시간이 된 것 같다</a:t>
            </a: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ko-KR" sz="2800">
              <a:solidFill>
                <a:schemeClr val="bg2">
                  <a:lumMod val="25000"/>
                </a:schemeClr>
              </a:solidFill>
              <a:latin typeface="휴먼엑스포"/>
              <a:ea typeface="휴먼엑스포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2800">
                <a:solidFill>
                  <a:schemeClr val="bg2">
                    <a:lumMod val="25000"/>
                  </a:schemeClr>
                </a:solidFill>
                <a:latin typeface="휴먼엑스포"/>
                <a:ea typeface="휴먼엑스포"/>
              </a:rPr>
              <a:t>많은 시간을 들여서 프로젝트를 하였으나 아직 많은 부분이 부족하여 더 공부하여서 개선을 해야 함을 느꼈습니다.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94555" y="632385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latin typeface="휴먼편지체"/>
                <a:ea typeface="휴먼편지체"/>
              </a:rPr>
              <a:t>18</a:t>
            </a:r>
          </a:p>
        </p:txBody>
      </p:sp>
      <p:pic>
        <p:nvPicPr>
          <p:cNvPr id="6" name="그림 5">
            <a:hlinkClick r:id="rId2"/>
            <a:extLst>
              <a:ext uri="{FF2B5EF4-FFF2-40B4-BE49-F238E27FC236}">
                <a16:creationId xmlns:a16="http://schemas.microsoft.com/office/drawing/2014/main" id="{7666ED8E-DDA8-493A-950F-636D7BD70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310341" y="5788069"/>
            <a:ext cx="535782" cy="535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교차">
  <a:themeElements>
    <a:clrScheme name="교차">
      <a:dk1>
        <a:srgbClr val="264C72"/>
      </a:dk1>
      <a:lt1>
        <a:srgbClr val="FFFFFF"/>
      </a:lt1>
      <a:dk2>
        <a:srgbClr val="347775"/>
      </a:dk2>
      <a:lt2>
        <a:srgbClr val="D7D7D7"/>
      </a:lt2>
      <a:accent1>
        <a:srgbClr val="63A6A4"/>
      </a:accent1>
      <a:accent2>
        <a:srgbClr val="323232"/>
      </a:accent2>
      <a:accent3>
        <a:srgbClr val="9D9C9C"/>
      </a:accent3>
      <a:accent4>
        <a:srgbClr val="C1C0C0"/>
      </a:accent4>
      <a:accent5>
        <a:srgbClr val="E5E4E4"/>
      </a:accent5>
      <a:accent6>
        <a:srgbClr val="716340"/>
      </a:accent6>
      <a:hlink>
        <a:srgbClr val="F9F1D3"/>
      </a:hlink>
      <a:folHlink>
        <a:srgbClr val="E2CDB0"/>
      </a:folHlink>
    </a:clrScheme>
    <a:fontScheme name="교차">
      <a:majorFont>
        <a:latin typeface="Arial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한컴 윤고딕 23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교차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rect">
            <a:fillToRect l="100000" t="100000" r="100000" b="100000"/>
          </a:path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100000"/>
              </a:schemeClr>
            </a:gs>
            <a:gs pos="100000">
              <a:schemeClr val="phClr">
                <a:shade val="30000"/>
                <a:satMod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shade val="50000"/>
                <a:satMod val="7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426</Words>
  <Application>Microsoft Office PowerPoint</Application>
  <PresentationFormat>와이드스크린</PresentationFormat>
  <Paragraphs>105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한컴 바겐세일 B</vt:lpstr>
      <vt:lpstr>휴먼엑스포</vt:lpstr>
      <vt:lpstr>휴먼편지체</vt:lpstr>
      <vt:lpstr>Arial</vt:lpstr>
      <vt:lpstr>Calibri</vt:lpstr>
      <vt:lpstr>Lucida Sans Unicode</vt:lpstr>
      <vt:lpstr>Wingdings</vt:lpstr>
      <vt:lpstr>Wingdings 3</vt:lpstr>
      <vt:lpstr>교차</vt:lpstr>
      <vt:lpstr>Matrix Calculator</vt:lpstr>
      <vt:lpstr>INDEX</vt:lpstr>
      <vt:lpstr>스케치</vt:lpstr>
      <vt:lpstr>행렬 계산기 소개 </vt:lpstr>
      <vt:lpstr>행렬 계산기 소개</vt:lpstr>
      <vt:lpstr>행렬 계산기 소개</vt:lpstr>
      <vt:lpstr>코딩</vt:lpstr>
      <vt:lpstr>코딩</vt:lpstr>
      <vt:lpstr>코딩</vt:lpstr>
      <vt:lpstr>PowerPoint 프레젠테이션</vt:lpstr>
      <vt:lpstr>코딩</vt:lpstr>
      <vt:lpstr>코딩</vt:lpstr>
      <vt:lpstr>코딩</vt:lpstr>
      <vt:lpstr>코딩</vt:lpstr>
      <vt:lpstr>코딩</vt:lpstr>
      <vt:lpstr>코딩</vt:lpstr>
      <vt:lpstr>코딩</vt:lpstr>
      <vt:lpstr>코딩</vt:lpstr>
      <vt:lpstr>후기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Calculator</dc:title>
  <dc:creator>라인컴퓨터</dc:creator>
  <cp:lastModifiedBy>Hjuk</cp:lastModifiedBy>
  <cp:revision>134</cp:revision>
  <dcterms:created xsi:type="dcterms:W3CDTF">2022-10-13T05:59:55Z</dcterms:created>
  <dcterms:modified xsi:type="dcterms:W3CDTF">2026-04-01T13:54:03Z</dcterms:modified>
  <cp:version>1100.0100.01</cp:version>
</cp:coreProperties>
</file>